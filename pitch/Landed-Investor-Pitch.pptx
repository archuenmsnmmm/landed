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731520"/>
            <a:ext cx="1828800" cy="18288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017520"/>
            <a:ext cx="1325880" cy="13258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4754880"/>
            <a:ext cx="1051560" cy="10515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Replii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7DD3FC"/>
                </a:solidFill>
              </a:rPr>
              <a:t>INVESTOR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44752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The live conversation layer for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0552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E2E8F0"/>
                </a:solidFill>
              </a:rPr>
              <a:t>Sub-100ms inference inside high-pressure human conversations.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49039"/>
            <a:ext cx="58521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</a:rPr>
              <a:t>Starting with sales. Expanding into regulated contact centres.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053328"/>
            <a:ext cx="2011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AI is too late for live 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Most conversation products analyse what happened after the moment has already passed.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1883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0EA5E9"/>
                </a:solidFill>
              </a:rPr>
              <a:t>2-5s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188366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Typical latency dressed up as “real time”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14884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313432"/>
            <a:ext cx="1883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</a:rPr>
              <a:t>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816352"/>
            <a:ext cx="188366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Time available when a rep or agent is under pressure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14884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2313432"/>
            <a:ext cx="215798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</a:rPr>
              <a:t>£50m+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2816352"/>
            <a:ext cx="215798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Potential cost of a major regulated mis-selling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58768"/>
            <a:ext cx="2743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The gap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27939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224528"/>
            <a:ext cx="55595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Post-call tools cannot stop a bad answer, missed objection, or compliance breach.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66344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608576"/>
            <a:ext cx="55595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Static playbooks do not help when the conversation changes in real time.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4748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992624"/>
            <a:ext cx="55595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Managers cannot listen to every call or coach every agent at the moment of risk.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3611880"/>
            <a:ext cx="3977639" cy="1737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3977639"/>
            <a:ext cx="333756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</a:rPr>
              <a:t>The category has been built around recording, transcription, and analysis. The next category is intervention while the conversation is still alive.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BREAKTHROUGH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Sub-100ms changes the product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At this latency, AI moves from passive analyst to active conversation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88920"/>
            <a:ext cx="99669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2651760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108960"/>
            <a:ext cx="109728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Audio
frame</a:t>
            </a:r>
          </a:p>
        </p:txBody>
      </p:sp>
      <p:sp>
        <p:nvSpPr>
          <p:cNvPr id="12" name="Oval 11"/>
          <p:cNvSpPr/>
          <p:nvPr/>
        </p:nvSpPr>
        <p:spPr>
          <a:xfrm>
            <a:off x="3060496" y="26517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6448" y="3108960"/>
            <a:ext cx="109728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Intent
detected</a:t>
            </a:r>
          </a:p>
        </p:txBody>
      </p:sp>
      <p:sp>
        <p:nvSpPr>
          <p:cNvPr id="14" name="Oval 13"/>
          <p:cNvSpPr/>
          <p:nvPr/>
        </p:nvSpPr>
        <p:spPr>
          <a:xfrm>
            <a:off x="5352897" y="265176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8849" y="3108960"/>
            <a:ext cx="109728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Risk or cue
classified</a:t>
            </a:r>
          </a:p>
        </p:txBody>
      </p:sp>
      <p:sp>
        <p:nvSpPr>
          <p:cNvPr id="16" name="Oval 15"/>
          <p:cNvSpPr/>
          <p:nvPr/>
        </p:nvSpPr>
        <p:spPr>
          <a:xfrm>
            <a:off x="7744968" y="2651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3108960"/>
            <a:ext cx="109728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Guidance
delivered</a:t>
            </a:r>
          </a:p>
        </p:txBody>
      </p:sp>
      <p:sp>
        <p:nvSpPr>
          <p:cNvPr id="18" name="Oval 17"/>
          <p:cNvSpPr/>
          <p:nvPr/>
        </p:nvSpPr>
        <p:spPr>
          <a:xfrm>
            <a:off x="10735056" y="2651760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1008" y="3108960"/>
            <a:ext cx="109728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Conversation
continues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920240"/>
            <a:ext cx="237744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3400" b="1">
                <a:solidFill>
                  <a:srgbClr val="0EA5E9"/>
                </a:solidFill>
              </a:rPr>
              <a:t>&lt;100ms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04872"/>
            <a:ext cx="32918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0">
                <a:solidFill>
                  <a:srgbClr val="5B6C82"/>
                </a:solidFill>
              </a:rPr>
              <a:t>fast enough to shape what happens next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62686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4572000"/>
            <a:ext cx="96743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Live objection handling before the rep loses control of the call.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501091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4956048"/>
            <a:ext cx="96743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Live compliance flagging before an agent says the wrong thing.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539496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5340096"/>
            <a:ext cx="96743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Live coaching cues without waiting for a post-call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Replii is an operating layer for live 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It listens, understands, intervenes, and learns while people are speaking.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2395728"/>
            <a:ext cx="475488" cy="47548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487168"/>
            <a:ext cx="47548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971800"/>
            <a:ext cx="1874519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3456432"/>
            <a:ext cx="192024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Low-latency audio capture from live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14884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5616" y="2395728"/>
            <a:ext cx="475488" cy="47548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6" y="2487168"/>
            <a:ext cx="47548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2971800"/>
            <a:ext cx="1874519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3456432"/>
            <a:ext cx="192024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Detect intent, objections, risk, emotion, and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14884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74535" y="2395728"/>
            <a:ext cx="475488" cy="47548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5" y="2487168"/>
            <a:ext cx="47548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5" y="2971800"/>
            <a:ext cx="1874519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</a:rPr>
              <a:t>Intervene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5" y="3456432"/>
            <a:ext cx="192024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Surface the right cue before the conversational moment passes.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3999" y="214884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63455" y="2395728"/>
            <a:ext cx="475488" cy="47548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5" y="2487168"/>
            <a:ext cx="47548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2971800"/>
            <a:ext cx="1874519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</a:rPr>
              <a:t>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3456432"/>
            <a:ext cx="192024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Tune guidance to each company’s playbook and outcomes.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92040"/>
            <a:ext cx="1033272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157216"/>
            <a:ext cx="96012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Initial use case: revenue teams. Expansion use case: regulated contact centres where mistakes create legal and financial exposure.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The stack is finally ready for real-time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Voice, edge inference, model routing, and enterprise AI adoption have converged.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304288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Voice interfaces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70048"/>
            <a:ext cx="43434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Workflows are moving from text boxes to live spoken interaction.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304288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Model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70048"/>
            <a:ext cx="43434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Smaller routed models can now perform narrow tasks with low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79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813047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Enterprise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178807"/>
            <a:ext cx="43434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Teams need AI ROI tied to revenue, compliance, and cost reduction.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79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813047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Incumbent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178807"/>
            <a:ext cx="43434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Legacy platforms are architected for recordings, not in-call intervention.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WEDGE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Start with sales, but sell to budget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The user may be the rep. The buyer is the VP Sales or CRO.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4983480" cy="3337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972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Avoid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91693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862072"/>
            <a:ext cx="391363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Rep-led bottoms-up motion as the primary wedge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300984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246120"/>
            <a:ext cx="391363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Low ACV individual plans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850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3630168"/>
            <a:ext cx="391363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Positioning as another sales coaching add-on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57400"/>
            <a:ext cx="4983480" cy="33375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359152"/>
            <a:ext cx="12801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</a:rPr>
              <a:t>Focus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291693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2862072"/>
            <a:ext cx="391363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VP Sales / CRO at 50-500 person companies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30098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3246120"/>
            <a:ext cx="391363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20-100 reps with measurable quota pressure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3685032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630168"/>
            <a:ext cx="391363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£24k-£60k ACV tied to win-rate improvement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5623560"/>
            <a:ext cx="2194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5788152"/>
            <a:ext cx="179222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0EA5E9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7128" y="6291072"/>
            <a:ext cx="179222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customers can create a seed-stage business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623560"/>
            <a:ext cx="28346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788152"/>
            <a:ext cx="243230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</a:rPr>
              <a:t>£240k-£600k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6291072"/>
            <a:ext cx="243230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ARR from the first wedge cohort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562356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5788152"/>
            <a:ext cx="206654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</a:rPr>
              <a:t>1-2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6291072"/>
            <a:ext cx="206654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customers “devastated” without Replii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CUSTOMER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First 10 customers: narrow, measurable, urgent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Win accounts where live guidance can be tied directly to revenue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1430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</a:rPr>
              <a:t>ICP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20240"/>
            <a:ext cx="8778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UK SaaS or financial-services sales teams with 20-100 reps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22576"/>
            <a:ext cx="10378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96896"/>
            <a:ext cx="11430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</a:rPr>
              <a:t>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596896"/>
            <a:ext cx="8778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VP Sales, CRO, or Revenue Director accountable for quota attainment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99232"/>
            <a:ext cx="10378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73552"/>
            <a:ext cx="11430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</a:rPr>
              <a:t>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273552"/>
            <a:ext cx="8778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Missed objections, inconsistent playbook execution, slow ramp, poor call visibility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675888"/>
            <a:ext cx="10378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50208"/>
            <a:ext cx="11430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950208"/>
            <a:ext cx="8778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30 days, 10-20 reps, live cues enabled on real calls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52544"/>
            <a:ext cx="10378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26864"/>
            <a:ext cx="11430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</a:rPr>
              <a:t>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626864"/>
            <a:ext cx="8778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Conversion rate, objection handling, ramp speed, win rate, call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029200"/>
            <a:ext cx="10378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532120"/>
            <a:ext cx="10241280" cy="65836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733288"/>
            <a:ext cx="9692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</a:rPr>
              <a:t>Goal: convert pilots into evidence that Replii changes revenue outcomes, not just call notes.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The larger market is regulated contact centres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Sales proves the wedge. Compliance and performance in contact centres create the platform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30552"/>
            <a:ext cx="1883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0EA5E9"/>
                </a:solidFill>
              </a:rPr>
              <a:t>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33472"/>
            <a:ext cx="188366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UK contact-centre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130552"/>
            <a:ext cx="18836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</a:rPr>
              <a:t>15m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33472"/>
            <a:ext cx="188366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US contact-centre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96596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130552"/>
            <a:ext cx="215798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</a:rPr>
              <a:t>£800-£1,500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633472"/>
            <a:ext cx="215798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annual software spend per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96596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2130552"/>
            <a:ext cx="211226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16A34A"/>
                </a:solidFill>
              </a:rPr>
              <a:t>£320m-£600m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633472"/>
            <a:ext cx="211226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ARR potential at 1% UK penetration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4572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Why compliance is the killer use case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26110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206240"/>
            <a:ext cx="96743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Real-time FCA-sensitive language detection before harm occurs.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64515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590288"/>
            <a:ext cx="96743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Reduced mis-selling risk, QA cost, and manager review burden.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02920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974336"/>
            <a:ext cx="9674352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Clear ROI when one avoided failure can justify a full deployment.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One workflow across revenue and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The same real-time layer adapts to the outcome the customer cares about.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25146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B6C82"/>
                </a:solidFill>
              </a:rPr>
              <a:t>Load playbook, compliance rules, products, customer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154680"/>
            <a:ext cx="3200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33172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6517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During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46120"/>
            <a:ext cx="25146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B6C82"/>
                </a:solidFill>
              </a:rPr>
              <a:t>Detect risk, objection, intent, and next-best action in real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154680"/>
            <a:ext cx="3200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59" y="233172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79" y="26517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79" y="3246120"/>
            <a:ext cx="25146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B6C82"/>
                </a:solidFill>
              </a:rPr>
              <a:t>Summarise outcomes, coach teams, and improve future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349240"/>
            <a:ext cx="1005840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559552"/>
            <a:ext cx="9418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</a:rPr>
              <a:t>The value compounds because every conversation updates the company-specific model of what “good” looks like.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The defensibility is built into the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The investor question is not whether incumbents notice. It is whether they can re-architect fast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4892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240280"/>
            <a:ext cx="141732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A5E9"/>
                </a:solidFill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715768"/>
            <a:ext cx="4343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Sub-100ms audio pipeline, model routing, and intervention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4892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9672" y="2240280"/>
            <a:ext cx="141732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B8A6"/>
                </a:solidFill>
              </a:rPr>
              <a:t>Data flywheel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715768"/>
            <a:ext cx="4343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Conversation patterns, interventions, outcomes, and compliance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4892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3840480"/>
            <a:ext cx="141732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EA5E9"/>
                </a:solidFill>
              </a:rPr>
              <a:t>Certifications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15968"/>
            <a:ext cx="4343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SOC 2, ISO 27001, FCA-adjacent controls, regulated deployment muscle.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4892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19672" y="3840480"/>
            <a:ext cx="141732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B8A6"/>
                </a:solidFill>
              </a:rPr>
              <a:t>Switching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315968"/>
            <a:ext cx="4343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5B6C82"/>
                </a:solidFill>
              </a:rPr>
              <a:t>Company-specific playbooks, language, risk models, and coaching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77840"/>
            <a:ext cx="10287000" cy="6217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769864"/>
            <a:ext cx="97383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60" b="1">
                <a:solidFill>
                  <a:srgbClr val="111827"/>
                </a:solidFill>
              </a:rPr>
              <a:t>Direct answer to “Why can’t Gong copy this?”: Gong was built around post-call intelligence. Replii is built around in-call intervention.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Land with revenue impact, expand with platform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Pricing scales from team deployment to regulated enterprise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33375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377440"/>
            <a:ext cx="24688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Sales wedge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71800"/>
            <a:ext cx="2697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136392"/>
            <a:ext cx="229514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0EA5E9"/>
                </a:solidFill>
              </a:rPr>
              <a:t>£24k-£60k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639312"/>
            <a:ext cx="229514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ACV for 20-100 rep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224528"/>
            <a:ext cx="256032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20" b="0">
                <a:solidFill>
                  <a:srgbClr val="5B6C82"/>
                </a:solidFill>
              </a:rPr>
              <a:t>Quota attainment, conversion rate, ramp speed, manager visibility.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057400"/>
            <a:ext cx="33375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377440"/>
            <a:ext cx="24688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Contact centres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971800"/>
            <a:ext cx="2697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3136392"/>
            <a:ext cx="229514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</a:rPr>
              <a:t>£100k-£500k+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639312"/>
            <a:ext cx="229514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ACV for regulated deployments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224528"/>
            <a:ext cx="256032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20" b="0">
                <a:solidFill>
                  <a:srgbClr val="5B6C82"/>
                </a:solidFill>
              </a:rPr>
              <a:t>Compliance prevention, QA automation, live agent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057400"/>
            <a:ext cx="33375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2377440"/>
            <a:ext cx="24688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971800"/>
            <a:ext cx="2697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136392"/>
            <a:ext cx="2295144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500" b="1">
                <a:solidFill>
                  <a:srgbClr val="16A34A"/>
                </a:solidFill>
              </a:rPr>
              <a:t>£500k+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3639312"/>
            <a:ext cx="2295144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</a:rPr>
              <a:t>strategic enterprise contracts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224528"/>
            <a:ext cx="256032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20" b="0">
                <a:solidFill>
                  <a:srgbClr val="5B6C82"/>
                </a:solidFill>
              </a:rPr>
              <a:t>Live conversation infrastructure embedded across teams and workflows.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0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A122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58952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0EA5E9"/>
                </a:solidFill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Path to a billion-pound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5B6C82"/>
                </a:solidFill>
              </a:rPr>
              <a:t>A focused wedge creates proof, then regulated contact centres create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24231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542032"/>
            <a:ext cx="19202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</a:rPr>
              <a:t>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063240"/>
            <a:ext cx="1874519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</a:rPr>
              <a:t>10-20 VP Sales / CRO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160520"/>
            <a:ext cx="1874519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</a:rPr>
              <a:t>£500k 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79" y="2240280"/>
            <a:ext cx="24231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5" y="2542032"/>
            <a:ext cx="19202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</a:rPr>
              <a:t>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3063240"/>
            <a:ext cx="1874519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</a:rPr>
              <a:t>2-3 regulated contact-centre 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4160520"/>
            <a:ext cx="1874519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</a:rPr>
              <a:t>£3m-£5m ARR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40280"/>
            <a:ext cx="24231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542032"/>
            <a:ext cx="19202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</a:rPr>
              <a:t>Year 3-4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063240"/>
            <a:ext cx="1874519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</a:rPr>
              <a:t>Compliance and performance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4160520"/>
            <a:ext cx="1874519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</a:rPr>
              <a:t>£20m-£50m ARR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240280"/>
            <a:ext cx="24231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5" y="2542032"/>
            <a:ext cx="19202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Exit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5" y="3063240"/>
            <a:ext cx="1874519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</a:rPr>
              <a:t>Strategic buyer or independent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5" y="4160520"/>
            <a:ext cx="1874519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</a:rPr>
              <a:t>20-30x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28232"/>
            <a:ext cx="54864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5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0040"/>
            <a:ext cx="329184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74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Replii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6400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50" b="1">
                <a:solidFill>
                  <a:srgbClr val="7DD3FC"/>
                </a:solidFill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1024128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Fund the move from breakthrough tech to category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987552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>
                <a:solidFill>
                  <a:srgbClr val="E2E8F0"/>
                </a:solidFill>
              </a:rPr>
              <a:t>The next milestone is not another deck. It is live customer proof in markets where real-time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333756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82112"/>
            <a:ext cx="24688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Pilot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94176"/>
            <a:ext cx="256032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Close and measure 10-20 sales wedge customers.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880360"/>
            <a:ext cx="333756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3182112"/>
            <a:ext cx="24688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Enterprise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694176"/>
            <a:ext cx="256032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Security, compliance, integrations, and deployment muscle.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880360"/>
            <a:ext cx="333756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182112"/>
            <a:ext cx="24688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Contact-centre wedge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694176"/>
            <a:ext cx="256032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Start regulated pilots where compliance ROI is undeniable.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8686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</a:rPr>
              <a:t>Replii owns the layer between speech and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09360"/>
            <a:ext cx="36576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Confidential | Investor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Replii Investor Pitch</dc:title>
  <dc:subject>Sub-100ms live conversation AI platform</dc:subject>
  <dc:creator>Replii</dc:creator>
  <cp:keywords/>
  <dc:description>Generated investor pitch deck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