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ii-bg-main.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58368" y="347472"/>
            <a:ext cx="292608" cy="292608"/>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06908"/>
            <a:ext cx="292608" cy="109728"/>
          </a:xfrm>
          <a:prstGeom prst="rect">
            <a:avLst/>
          </a:prstGeom>
          <a:noFill/>
        </p:spPr>
        <p:txBody>
          <a:bodyPr wrap="square" lIns="0" rIns="0" tIns="0" bIns="0" anchor="t">
            <a:spAutoFit/>
          </a:bodyPr>
          <a:lstStyle/>
          <a:p>
            <a:pPr algn="ctr"/>
            <a:r>
              <a:rPr sz="1000" b="1">
                <a:solidFill>
                  <a:srgbClr val="050B16"/>
                </a:solidFill>
                <a:latin typeface="Aptos"/>
              </a:rPr>
              <a:t>R</a:t>
            </a:r>
          </a:p>
        </p:txBody>
      </p:sp>
      <p:sp>
        <p:nvSpPr>
          <p:cNvPr id="5" name="TextBox 4"/>
          <p:cNvSpPr txBox="1"/>
          <p:nvPr/>
        </p:nvSpPr>
        <p:spPr>
          <a:xfrm>
            <a:off x="1042416" y="356616"/>
            <a:ext cx="1005840" cy="219456"/>
          </a:xfrm>
          <a:prstGeom prst="rect">
            <a:avLst/>
          </a:prstGeom>
          <a:noFill/>
        </p:spPr>
        <p:txBody>
          <a:bodyPr wrap="square" lIns="0" rIns="0" tIns="0" bIns="0" anchor="t">
            <a:spAutoFit/>
          </a:bodyPr>
          <a:lstStyle/>
          <a:p>
            <a:pPr algn="l"/>
            <a:r>
              <a:rPr sz="1500" b="1">
                <a:solidFill>
                  <a:srgbClr val="F8FAFC"/>
                </a:solidFill>
                <a:latin typeface="Aptos"/>
              </a:rPr>
              <a:t>replii</a:t>
            </a:r>
          </a:p>
        </p:txBody>
      </p:sp>
      <p:sp>
        <p:nvSpPr>
          <p:cNvPr id="6" name="TextBox 5"/>
          <p:cNvSpPr txBox="1"/>
          <p:nvPr/>
        </p:nvSpPr>
        <p:spPr>
          <a:xfrm>
            <a:off x="658368" y="1444752"/>
            <a:ext cx="6400800" cy="914400"/>
          </a:xfrm>
          <a:prstGeom prst="rect">
            <a:avLst/>
          </a:prstGeom>
          <a:noFill/>
        </p:spPr>
        <p:txBody>
          <a:bodyPr wrap="square" lIns="0" rIns="0" tIns="0" bIns="0" anchor="t">
            <a:spAutoFit/>
          </a:bodyPr>
          <a:lstStyle/>
          <a:p>
            <a:pPr algn="l"/>
            <a:r>
              <a:rPr sz="3300" b="1">
                <a:solidFill>
                  <a:srgbClr val="F8FAFC"/>
                </a:solidFill>
                <a:latin typeface="Aptos"/>
              </a:rPr>
              <a:t>Defining the next
era of live conversation AI</a:t>
            </a:r>
          </a:p>
        </p:txBody>
      </p:sp>
      <p:sp>
        <p:nvSpPr>
          <p:cNvPr id="7" name="Rounded Rectangle 6"/>
          <p:cNvSpPr/>
          <p:nvPr/>
        </p:nvSpPr>
        <p:spPr>
          <a:xfrm>
            <a:off x="658368" y="3246120"/>
            <a:ext cx="987552" cy="310896"/>
          </a:xfrm>
          <a:prstGeom prst="roundRect">
            <a:avLst/>
          </a:prstGeom>
          <a:solidFill>
            <a:srgbClr val="091921"/>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28416"/>
            <a:ext cx="987552" cy="109728"/>
          </a:xfrm>
          <a:prstGeom prst="rect">
            <a:avLst/>
          </a:prstGeom>
          <a:noFill/>
        </p:spPr>
        <p:txBody>
          <a:bodyPr wrap="square" lIns="0" rIns="0" tIns="0" bIns="0" anchor="t">
            <a:spAutoFit/>
          </a:bodyPr>
          <a:lstStyle/>
          <a:p>
            <a:pPr algn="ctr"/>
            <a:r>
              <a:rPr sz="800" b="1">
                <a:solidFill>
                  <a:srgbClr val="65FFAF"/>
                </a:solidFill>
                <a:latin typeface="Aptos"/>
              </a:rPr>
              <a:t>Q2 2026</a:t>
            </a:r>
          </a:p>
        </p:txBody>
      </p:sp>
      <p:sp>
        <p:nvSpPr>
          <p:cNvPr id="9" name="TextBox 8"/>
          <p:cNvSpPr txBox="1"/>
          <p:nvPr/>
        </p:nvSpPr>
        <p:spPr>
          <a:xfrm>
            <a:off x="658368" y="5212080"/>
            <a:ext cx="5303520" cy="320040"/>
          </a:xfrm>
          <a:prstGeom prst="rect">
            <a:avLst/>
          </a:prstGeom>
          <a:noFill/>
        </p:spPr>
        <p:txBody>
          <a:bodyPr wrap="square" lIns="0" rIns="0" tIns="0" bIns="0" anchor="t">
            <a:spAutoFit/>
          </a:bodyPr>
          <a:lstStyle/>
          <a:p>
            <a:pPr algn="l"/>
            <a:r>
              <a:rPr sz="1300" b="0">
                <a:solidFill>
                  <a:srgbClr val="CBD5E1"/>
                </a:solidFill>
                <a:latin typeface="Aptos"/>
              </a:rPr>
              <a:t>Sub-100ms inference inside high-pressure human conversations.</a:t>
            </a:r>
          </a:p>
        </p:txBody>
      </p:sp>
      <p:sp>
        <p:nvSpPr>
          <p:cNvPr id="10" name="TextBox 9"/>
          <p:cNvSpPr txBox="1"/>
          <p:nvPr/>
        </p:nvSpPr>
        <p:spPr>
          <a:xfrm>
            <a:off x="658368" y="5577840"/>
            <a:ext cx="5303520" cy="320040"/>
          </a:xfrm>
          <a:prstGeom prst="rect">
            <a:avLst/>
          </a:prstGeom>
          <a:noFill/>
        </p:spPr>
        <p:txBody>
          <a:bodyPr wrap="square" lIns="0" rIns="0" tIns="0" bIns="0" anchor="t">
            <a:spAutoFit/>
          </a:bodyPr>
          <a:lstStyle/>
          <a:p>
            <a:pPr algn="l"/>
            <a:r>
              <a:rPr sz="1300" b="1">
                <a:solidFill>
                  <a:srgbClr val="F8FAFC"/>
                </a:solidFill>
                <a:latin typeface="Aptos"/>
              </a:rPr>
              <a:t>Starting with sales. Expanding into regulated contact centres.</a:t>
            </a:r>
          </a:p>
        </p:txBody>
      </p:sp>
      <p:sp>
        <p:nvSpPr>
          <p:cNvPr id="11" name="TextBox 10"/>
          <p:cNvSpPr txBox="1"/>
          <p:nvPr/>
        </p:nvSpPr>
        <p:spPr>
          <a:xfrm>
            <a:off x="658368" y="6345936"/>
            <a:ext cx="2834640" cy="137160"/>
          </a:xfrm>
          <a:prstGeom prst="rect">
            <a:avLst/>
          </a:prstGeom>
          <a:noFill/>
        </p:spPr>
        <p:txBody>
          <a:bodyPr wrap="square" lIns="0" rIns="0" tIns="0" bIns="0" anchor="t">
            <a:spAutoFit/>
          </a:bodyPr>
          <a:lstStyle/>
          <a:p>
            <a:pPr algn="l"/>
            <a:r>
              <a:rPr sz="750" b="0">
                <a:solidFill>
                  <a:srgbClr val="A4B1C3"/>
                </a:solidFill>
                <a:latin typeface="Aptos"/>
              </a:rPr>
              <a:t>Confidential | Replii investor discussion</a:t>
            </a:r>
          </a:p>
        </p:txBody>
      </p:sp>
      <p:sp>
        <p:nvSpPr>
          <p:cNvPr id="12" name="TextBox 11"/>
          <p:cNvSpPr txBox="1"/>
          <p:nvPr/>
        </p:nvSpPr>
        <p:spPr>
          <a:xfrm>
            <a:off x="11155680" y="6345936"/>
            <a:ext cx="320040" cy="146304"/>
          </a:xfrm>
          <a:prstGeom prst="rect">
            <a:avLst/>
          </a:prstGeom>
          <a:noFill/>
        </p:spPr>
        <p:txBody>
          <a:bodyPr wrap="square" lIns="0" rIns="0" tIns="0" bIns="0" anchor="t">
            <a:spAutoFit/>
          </a:bodyPr>
          <a:lstStyle/>
          <a:p>
            <a:pPr algn="r"/>
            <a:r>
              <a:rPr sz="750" b="0">
                <a:solidFill>
                  <a:srgbClr val="A4B1C3"/>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ii-bg-plain.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58368" y="347472"/>
            <a:ext cx="292608" cy="292608"/>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06908"/>
            <a:ext cx="292608" cy="109728"/>
          </a:xfrm>
          <a:prstGeom prst="rect">
            <a:avLst/>
          </a:prstGeom>
          <a:noFill/>
        </p:spPr>
        <p:txBody>
          <a:bodyPr wrap="square" lIns="0" rIns="0" tIns="0" bIns="0" anchor="t">
            <a:spAutoFit/>
          </a:bodyPr>
          <a:lstStyle/>
          <a:p>
            <a:pPr algn="ctr"/>
            <a:r>
              <a:rPr sz="1000" b="1">
                <a:solidFill>
                  <a:srgbClr val="050B16"/>
                </a:solidFill>
                <a:latin typeface="Aptos"/>
              </a:rPr>
              <a:t>R</a:t>
            </a:r>
          </a:p>
        </p:txBody>
      </p:sp>
      <p:sp>
        <p:nvSpPr>
          <p:cNvPr id="5" name="TextBox 4"/>
          <p:cNvSpPr txBox="1"/>
          <p:nvPr/>
        </p:nvSpPr>
        <p:spPr>
          <a:xfrm>
            <a:off x="1042416" y="356616"/>
            <a:ext cx="1005840" cy="219456"/>
          </a:xfrm>
          <a:prstGeom prst="rect">
            <a:avLst/>
          </a:prstGeom>
          <a:noFill/>
        </p:spPr>
        <p:txBody>
          <a:bodyPr wrap="square" lIns="0" rIns="0" tIns="0" bIns="0" anchor="t">
            <a:spAutoFit/>
          </a:bodyPr>
          <a:lstStyle/>
          <a:p>
            <a:pPr algn="l"/>
            <a:r>
              <a:rPr sz="1500" b="1">
                <a:solidFill>
                  <a:srgbClr val="F8FAFC"/>
                </a:solidFill>
                <a:latin typeface="Aptos"/>
              </a:rPr>
              <a:t>replii</a:t>
            </a:r>
          </a:p>
        </p:txBody>
      </p:sp>
      <p:sp>
        <p:nvSpPr>
          <p:cNvPr id="6" name="TextBox 5"/>
          <p:cNvSpPr txBox="1"/>
          <p:nvPr/>
        </p:nvSpPr>
        <p:spPr>
          <a:xfrm>
            <a:off x="658368" y="6345936"/>
            <a:ext cx="2834640" cy="137160"/>
          </a:xfrm>
          <a:prstGeom prst="rect">
            <a:avLst/>
          </a:prstGeom>
          <a:noFill/>
        </p:spPr>
        <p:txBody>
          <a:bodyPr wrap="square" lIns="0" rIns="0" tIns="0" bIns="0" anchor="t">
            <a:spAutoFit/>
          </a:bodyPr>
          <a:lstStyle/>
          <a:p>
            <a:pPr algn="l"/>
            <a:r>
              <a:rPr sz="750" b="0">
                <a:solidFill>
                  <a:srgbClr val="A4B1C3"/>
                </a:solidFill>
                <a:latin typeface="Aptos"/>
              </a:rPr>
              <a:t>Confidential | Replii investor discussion</a:t>
            </a:r>
          </a:p>
        </p:txBody>
      </p:sp>
      <p:sp>
        <p:nvSpPr>
          <p:cNvPr id="7" name="TextBox 6"/>
          <p:cNvSpPr txBox="1"/>
          <p:nvPr/>
        </p:nvSpPr>
        <p:spPr>
          <a:xfrm>
            <a:off x="11155680" y="6345936"/>
            <a:ext cx="320040" cy="146304"/>
          </a:xfrm>
          <a:prstGeom prst="rect">
            <a:avLst/>
          </a:prstGeom>
          <a:noFill/>
        </p:spPr>
        <p:txBody>
          <a:bodyPr wrap="square" lIns="0" rIns="0" tIns="0" bIns="0" anchor="t">
            <a:spAutoFit/>
          </a:bodyPr>
          <a:lstStyle/>
          <a:p>
            <a:pPr algn="r"/>
            <a:r>
              <a:rPr sz="750" b="0">
                <a:solidFill>
                  <a:srgbClr val="A4B1C3"/>
                </a:solidFill>
                <a:latin typeface="Aptos"/>
              </a:rPr>
              <a:t>2</a:t>
            </a:r>
          </a:p>
        </p:txBody>
      </p:sp>
      <p:sp>
        <p:nvSpPr>
          <p:cNvPr id="8" name="TextBox 7"/>
          <p:cNvSpPr txBox="1"/>
          <p:nvPr/>
        </p:nvSpPr>
        <p:spPr>
          <a:xfrm>
            <a:off x="658368" y="868680"/>
            <a:ext cx="2743200" cy="320040"/>
          </a:xfrm>
          <a:prstGeom prst="rect">
            <a:avLst/>
          </a:prstGeom>
          <a:noFill/>
        </p:spPr>
        <p:txBody>
          <a:bodyPr wrap="square" lIns="0" rIns="0" tIns="0" bIns="0" anchor="t">
            <a:spAutoFit/>
          </a:bodyPr>
          <a:lstStyle/>
          <a:p>
            <a:pPr algn="l"/>
            <a:r>
              <a:rPr sz="1800" b="1">
                <a:solidFill>
                  <a:srgbClr val="F8FAFC"/>
                </a:solidFill>
                <a:latin typeface="Aptos"/>
              </a:rPr>
              <a:t>Advisory</a:t>
            </a:r>
          </a:p>
        </p:txBody>
      </p:sp>
      <p:sp>
        <p:nvSpPr>
          <p:cNvPr id="9" name="TextBox 8"/>
          <p:cNvSpPr txBox="1"/>
          <p:nvPr/>
        </p:nvSpPr>
        <p:spPr>
          <a:xfrm>
            <a:off x="658368" y="1417320"/>
            <a:ext cx="4800600" cy="4206240"/>
          </a:xfrm>
          <a:prstGeom prst="rect">
            <a:avLst/>
          </a:prstGeom>
          <a:noFill/>
        </p:spPr>
        <p:txBody>
          <a:bodyPr wrap="square" lIns="0" rIns="0" tIns="0" bIns="0" anchor="t">
            <a:spAutoFit/>
          </a:bodyPr>
          <a:lstStyle/>
          <a:p>
            <a:pPr algn="l"/>
            <a:r>
              <a:rPr sz="869" b="0">
                <a:solidFill>
                  <a:srgbClr val="CBD5E1"/>
                </a:solidFill>
                <a:latin typeface="Aptos"/>
              </a:rPr>
              <a:t>The company is not a sales coaching wrapper. The company is the latency breakthrough. Most products in conversation intelligence are built around recording, transcription and post-call analysis; Replii is built to operate while the conversation is still alive. That changes the buyer, the market, the moat and the valuation story.
Sales is still the right first wedge because revenue impact can be measured quickly. But the wedge buyer should be the VP Sales or CRO, not the individual rep. The first proof should be 10 to 20 teams where live guidance improves objection handling, conversion, ramp time and win rate.</a:t>
            </a:r>
          </a:p>
        </p:txBody>
      </p:sp>
      <p:sp>
        <p:nvSpPr>
          <p:cNvPr id="10" name="TextBox 9"/>
          <p:cNvSpPr txBox="1"/>
          <p:nvPr/>
        </p:nvSpPr>
        <p:spPr>
          <a:xfrm>
            <a:off x="6217920" y="1417320"/>
            <a:ext cx="4800600" cy="4206240"/>
          </a:xfrm>
          <a:prstGeom prst="rect">
            <a:avLst/>
          </a:prstGeom>
          <a:noFill/>
        </p:spPr>
        <p:txBody>
          <a:bodyPr wrap="square" lIns="0" rIns="0" tIns="0" bIns="0" anchor="t">
            <a:spAutoFit/>
          </a:bodyPr>
          <a:lstStyle/>
          <a:p>
            <a:pPr algn="l"/>
            <a:r>
              <a:rPr sz="869" b="0">
                <a:solidFill>
                  <a:srgbClr val="CBD5E1"/>
                </a:solidFill>
                <a:latin typeface="Aptos"/>
              </a:rPr>
              <a:t>The larger market is regulated contact centres, where the value of real-time intervention is much higher. A bank, insurer or lender does not just want to know that an agent said the wrong thing. They want to stop the wrong thing before it is said. That is where sub-100ms latency becomes commercially decisive.
The deck should therefore make one argument: Replii owns the layer between speech and action. The product listens, understands, intervenes and learns in real time. The investment case is platform-scale because the same infrastructure can move from revenue teams to compliance-heavy voice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ii-bg-al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58368" y="347472"/>
            <a:ext cx="292608" cy="292608"/>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06908"/>
            <a:ext cx="292608" cy="109728"/>
          </a:xfrm>
          <a:prstGeom prst="rect">
            <a:avLst/>
          </a:prstGeom>
          <a:noFill/>
        </p:spPr>
        <p:txBody>
          <a:bodyPr wrap="square" lIns="0" rIns="0" tIns="0" bIns="0" anchor="t">
            <a:spAutoFit/>
          </a:bodyPr>
          <a:lstStyle/>
          <a:p>
            <a:pPr algn="ctr"/>
            <a:r>
              <a:rPr sz="1000" b="1">
                <a:solidFill>
                  <a:srgbClr val="050B16"/>
                </a:solidFill>
                <a:latin typeface="Aptos"/>
              </a:rPr>
              <a:t>R</a:t>
            </a:r>
          </a:p>
        </p:txBody>
      </p:sp>
      <p:sp>
        <p:nvSpPr>
          <p:cNvPr id="5" name="TextBox 4"/>
          <p:cNvSpPr txBox="1"/>
          <p:nvPr/>
        </p:nvSpPr>
        <p:spPr>
          <a:xfrm>
            <a:off x="1042416" y="356616"/>
            <a:ext cx="1005840" cy="219456"/>
          </a:xfrm>
          <a:prstGeom prst="rect">
            <a:avLst/>
          </a:prstGeom>
          <a:noFill/>
        </p:spPr>
        <p:txBody>
          <a:bodyPr wrap="square" lIns="0" rIns="0" tIns="0" bIns="0" anchor="t">
            <a:spAutoFit/>
          </a:bodyPr>
          <a:lstStyle/>
          <a:p>
            <a:pPr algn="l"/>
            <a:r>
              <a:rPr sz="1500" b="1">
                <a:solidFill>
                  <a:srgbClr val="F8FAFC"/>
                </a:solidFill>
                <a:latin typeface="Aptos"/>
              </a:rPr>
              <a:t>replii</a:t>
            </a:r>
          </a:p>
        </p:txBody>
      </p:sp>
      <p:sp>
        <p:nvSpPr>
          <p:cNvPr id="6" name="TextBox 5"/>
          <p:cNvSpPr txBox="1"/>
          <p:nvPr/>
        </p:nvSpPr>
        <p:spPr>
          <a:xfrm>
            <a:off x="658368" y="6345936"/>
            <a:ext cx="2834640" cy="137160"/>
          </a:xfrm>
          <a:prstGeom prst="rect">
            <a:avLst/>
          </a:prstGeom>
          <a:noFill/>
        </p:spPr>
        <p:txBody>
          <a:bodyPr wrap="square" lIns="0" rIns="0" tIns="0" bIns="0" anchor="t">
            <a:spAutoFit/>
          </a:bodyPr>
          <a:lstStyle/>
          <a:p>
            <a:pPr algn="l"/>
            <a:r>
              <a:rPr sz="750" b="0">
                <a:solidFill>
                  <a:srgbClr val="A4B1C3"/>
                </a:solidFill>
                <a:latin typeface="Aptos"/>
              </a:rPr>
              <a:t>Confidential | Replii investor discussion</a:t>
            </a:r>
          </a:p>
        </p:txBody>
      </p:sp>
      <p:sp>
        <p:nvSpPr>
          <p:cNvPr id="7" name="TextBox 6"/>
          <p:cNvSpPr txBox="1"/>
          <p:nvPr/>
        </p:nvSpPr>
        <p:spPr>
          <a:xfrm>
            <a:off x="11155680" y="6345936"/>
            <a:ext cx="320040" cy="146304"/>
          </a:xfrm>
          <a:prstGeom prst="rect">
            <a:avLst/>
          </a:prstGeom>
          <a:noFill/>
        </p:spPr>
        <p:txBody>
          <a:bodyPr wrap="square" lIns="0" rIns="0" tIns="0" bIns="0" anchor="t">
            <a:spAutoFit/>
          </a:bodyPr>
          <a:lstStyle/>
          <a:p>
            <a:pPr algn="r"/>
            <a:r>
              <a:rPr sz="750" b="0">
                <a:solidFill>
                  <a:srgbClr val="A4B1C3"/>
                </a:solidFill>
                <a:latin typeface="Aptos"/>
              </a:rPr>
              <a:t>3</a:t>
            </a:r>
          </a:p>
        </p:txBody>
      </p:sp>
      <p:sp>
        <p:nvSpPr>
          <p:cNvPr id="8" name="TextBox 7"/>
          <p:cNvSpPr txBox="1"/>
          <p:nvPr/>
        </p:nvSpPr>
        <p:spPr>
          <a:xfrm>
            <a:off x="658368" y="868680"/>
            <a:ext cx="4572000" cy="457200"/>
          </a:xfrm>
          <a:prstGeom prst="rect">
            <a:avLst/>
          </a:prstGeom>
          <a:noFill/>
        </p:spPr>
        <p:txBody>
          <a:bodyPr wrap="square" lIns="0" rIns="0" tIns="0" bIns="0" anchor="t">
            <a:spAutoFit/>
          </a:bodyPr>
          <a:lstStyle/>
          <a:p>
            <a:pPr algn="l"/>
            <a:r>
              <a:rPr sz="2400" b="1">
                <a:solidFill>
                  <a:srgbClr val="F8FAFC"/>
                </a:solidFill>
                <a:latin typeface="Aptos"/>
              </a:rPr>
              <a:t>The Replii Platform</a:t>
            </a:r>
          </a:p>
        </p:txBody>
      </p:sp>
      <p:sp>
        <p:nvSpPr>
          <p:cNvPr id="9" name="Rectangle 8"/>
          <p:cNvSpPr/>
          <p:nvPr/>
        </p:nvSpPr>
        <p:spPr>
          <a:xfrm>
            <a:off x="658368" y="2139696"/>
            <a:ext cx="9875520" cy="13716"/>
          </a:xfrm>
          <a:prstGeom prst="rect">
            <a:avLst/>
          </a:prstGeom>
          <a:solidFill>
            <a:srgbClr val="6574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1915668"/>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915668"/>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2" name="TextBox 11"/>
          <p:cNvSpPr txBox="1"/>
          <p:nvPr/>
        </p:nvSpPr>
        <p:spPr>
          <a:xfrm>
            <a:off x="896112" y="1897380"/>
            <a:ext cx="36576" cy="329184"/>
          </a:xfrm>
          <a:prstGeom prst="rect">
            <a:avLst/>
          </a:prstGeom>
          <a:noFill/>
        </p:spPr>
        <p:txBody>
          <a:bodyPr wrap="square" lIns="0" rIns="0" tIns="0" bIns="0" anchor="t">
            <a:spAutoFit/>
          </a:bodyPr>
          <a:lstStyle/>
          <a:p>
            <a:pPr algn="l"/>
            <a:r>
              <a:rPr sz="100" b="0">
                <a:solidFill>
                  <a:srgbClr val="CBD5E1"/>
                </a:solidFill>
                <a:latin typeface="Aptos"/>
              </a:rPr>
              <a:t/>
            </a:r>
          </a:p>
        </p:txBody>
      </p:sp>
      <p:sp>
        <p:nvSpPr>
          <p:cNvPr id="13" name="TextBox 12"/>
          <p:cNvSpPr txBox="1"/>
          <p:nvPr/>
        </p:nvSpPr>
        <p:spPr>
          <a:xfrm>
            <a:off x="658368" y="2514600"/>
            <a:ext cx="2697480" cy="658368"/>
          </a:xfrm>
          <a:prstGeom prst="rect">
            <a:avLst/>
          </a:prstGeom>
          <a:noFill/>
        </p:spPr>
        <p:txBody>
          <a:bodyPr wrap="square" lIns="0" rIns="0" tIns="0" bIns="0" anchor="t">
            <a:spAutoFit/>
          </a:bodyPr>
          <a:lstStyle/>
          <a:p>
            <a:pPr algn="l"/>
            <a:r>
              <a:rPr sz="1300" b="0">
                <a:solidFill>
                  <a:srgbClr val="F8FAFC"/>
                </a:solidFill>
                <a:latin typeface="Aptos"/>
              </a:rPr>
              <a:t>We help teams act inside live conversations.</a:t>
            </a:r>
          </a:p>
        </p:txBody>
      </p:sp>
      <p:sp>
        <p:nvSpPr>
          <p:cNvPr id="14" name="Rounded Rectangle 13"/>
          <p:cNvSpPr/>
          <p:nvPr/>
        </p:nvSpPr>
        <p:spPr>
          <a:xfrm>
            <a:off x="4407408" y="1915668"/>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1915668"/>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6" name="TextBox 15"/>
          <p:cNvSpPr txBox="1"/>
          <p:nvPr/>
        </p:nvSpPr>
        <p:spPr>
          <a:xfrm>
            <a:off x="4645152" y="1897380"/>
            <a:ext cx="36576" cy="329184"/>
          </a:xfrm>
          <a:prstGeom prst="rect">
            <a:avLst/>
          </a:prstGeom>
          <a:noFill/>
        </p:spPr>
        <p:txBody>
          <a:bodyPr wrap="square" lIns="0" rIns="0" tIns="0" bIns="0" anchor="t">
            <a:spAutoFit/>
          </a:bodyPr>
          <a:lstStyle/>
          <a:p>
            <a:pPr algn="l"/>
            <a:r>
              <a:rPr sz="100" b="0">
                <a:solidFill>
                  <a:srgbClr val="CBD5E1"/>
                </a:solidFill>
                <a:latin typeface="Aptos"/>
              </a:rPr>
              <a:t/>
            </a:r>
          </a:p>
        </p:txBody>
      </p:sp>
      <p:sp>
        <p:nvSpPr>
          <p:cNvPr id="17" name="TextBox 16"/>
          <p:cNvSpPr txBox="1"/>
          <p:nvPr/>
        </p:nvSpPr>
        <p:spPr>
          <a:xfrm>
            <a:off x="4407408" y="2514600"/>
            <a:ext cx="2697480" cy="658368"/>
          </a:xfrm>
          <a:prstGeom prst="rect">
            <a:avLst/>
          </a:prstGeom>
          <a:noFill/>
        </p:spPr>
        <p:txBody>
          <a:bodyPr wrap="square" lIns="0" rIns="0" tIns="0" bIns="0" anchor="t">
            <a:spAutoFit/>
          </a:bodyPr>
          <a:lstStyle/>
          <a:p>
            <a:pPr algn="l"/>
            <a:r>
              <a:rPr sz="1300" b="0">
                <a:solidFill>
                  <a:srgbClr val="F8FAFC"/>
                </a:solidFill>
                <a:latin typeface="Aptos"/>
              </a:rPr>
              <a:t>We detect risk, intent and next-best action.</a:t>
            </a:r>
          </a:p>
        </p:txBody>
      </p:sp>
      <p:sp>
        <p:nvSpPr>
          <p:cNvPr id="18" name="Rounded Rectangle 17"/>
          <p:cNvSpPr/>
          <p:nvPr/>
        </p:nvSpPr>
        <p:spPr>
          <a:xfrm>
            <a:off x="8156448" y="1915668"/>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4736" y="1915668"/>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0" name="TextBox 19"/>
          <p:cNvSpPr txBox="1"/>
          <p:nvPr/>
        </p:nvSpPr>
        <p:spPr>
          <a:xfrm>
            <a:off x="8394192" y="1897380"/>
            <a:ext cx="36576" cy="329184"/>
          </a:xfrm>
          <a:prstGeom prst="rect">
            <a:avLst/>
          </a:prstGeom>
          <a:noFill/>
        </p:spPr>
        <p:txBody>
          <a:bodyPr wrap="square" lIns="0" rIns="0" tIns="0" bIns="0" anchor="t">
            <a:spAutoFit/>
          </a:bodyPr>
          <a:lstStyle/>
          <a:p>
            <a:pPr algn="l"/>
            <a:r>
              <a:rPr sz="100" b="0">
                <a:solidFill>
                  <a:srgbClr val="CBD5E1"/>
                </a:solidFill>
                <a:latin typeface="Aptos"/>
              </a:rPr>
              <a:t/>
            </a:r>
          </a:p>
        </p:txBody>
      </p:sp>
      <p:sp>
        <p:nvSpPr>
          <p:cNvPr id="21" name="TextBox 20"/>
          <p:cNvSpPr txBox="1"/>
          <p:nvPr/>
        </p:nvSpPr>
        <p:spPr>
          <a:xfrm>
            <a:off x="8156448" y="2514600"/>
            <a:ext cx="2697480" cy="658368"/>
          </a:xfrm>
          <a:prstGeom prst="rect">
            <a:avLst/>
          </a:prstGeom>
          <a:noFill/>
        </p:spPr>
        <p:txBody>
          <a:bodyPr wrap="square" lIns="0" rIns="0" tIns="0" bIns="0" anchor="t">
            <a:spAutoFit/>
          </a:bodyPr>
          <a:lstStyle/>
          <a:p>
            <a:pPr algn="l"/>
            <a:r>
              <a:rPr sz="1300" b="0">
                <a:solidFill>
                  <a:srgbClr val="F8FAFC"/>
                </a:solidFill>
                <a:latin typeface="Aptos"/>
              </a:rPr>
              <a:t>...and increasingly all high-pressure speech.</a:t>
            </a:r>
          </a:p>
        </p:txBody>
      </p:sp>
      <p:sp>
        <p:nvSpPr>
          <p:cNvPr id="22" name="Rounded Rectangle 21"/>
          <p:cNvSpPr/>
          <p:nvPr/>
        </p:nvSpPr>
        <p:spPr>
          <a:xfrm>
            <a:off x="1280160" y="4041648"/>
            <a:ext cx="7635240" cy="749808"/>
          </a:xfrm>
          <a:prstGeom prst="roundRect">
            <a:avLst/>
          </a:prstGeom>
          <a:solidFill>
            <a:srgbClr val="0E1523"/>
          </a:solidFill>
          <a:ln w="10160">
            <a:solidFill>
              <a:srgbClr val="435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481328" y="4160520"/>
            <a:ext cx="502920" cy="502920"/>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81328" y="4279392"/>
            <a:ext cx="502920" cy="137160"/>
          </a:xfrm>
          <a:prstGeom prst="rect">
            <a:avLst/>
          </a:prstGeom>
          <a:noFill/>
        </p:spPr>
        <p:txBody>
          <a:bodyPr wrap="square" lIns="0" rIns="0" tIns="0" bIns="0" anchor="t">
            <a:spAutoFit/>
          </a:bodyPr>
          <a:lstStyle/>
          <a:p>
            <a:pPr algn="ctr"/>
            <a:r>
              <a:rPr sz="1400" b="1">
                <a:solidFill>
                  <a:srgbClr val="030812"/>
                </a:solidFill>
                <a:latin typeface="Aptos"/>
              </a:rPr>
              <a:t>R</a:t>
            </a:r>
          </a:p>
        </p:txBody>
      </p:sp>
      <p:sp>
        <p:nvSpPr>
          <p:cNvPr id="25" name="TextBox 24"/>
          <p:cNvSpPr txBox="1"/>
          <p:nvPr/>
        </p:nvSpPr>
        <p:spPr>
          <a:xfrm>
            <a:off x="2212848" y="4261104"/>
            <a:ext cx="6309360" cy="228600"/>
          </a:xfrm>
          <a:prstGeom prst="rect">
            <a:avLst/>
          </a:prstGeom>
          <a:noFill/>
        </p:spPr>
        <p:txBody>
          <a:bodyPr wrap="square" lIns="0" rIns="0" tIns="0" bIns="0" anchor="t">
            <a:spAutoFit/>
          </a:bodyPr>
          <a:lstStyle/>
          <a:p>
            <a:pPr algn="l"/>
            <a:r>
              <a:rPr sz="1500" b="1">
                <a:solidFill>
                  <a:srgbClr val="F8FAFC"/>
                </a:solidFill>
                <a:latin typeface="Aptos"/>
              </a:rPr>
              <a:t>As customers perform better, Replii gets smarter.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ii-bg-plain.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58368" y="347472"/>
            <a:ext cx="292608" cy="292608"/>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06908"/>
            <a:ext cx="292608" cy="109728"/>
          </a:xfrm>
          <a:prstGeom prst="rect">
            <a:avLst/>
          </a:prstGeom>
          <a:noFill/>
        </p:spPr>
        <p:txBody>
          <a:bodyPr wrap="square" lIns="0" rIns="0" tIns="0" bIns="0" anchor="t">
            <a:spAutoFit/>
          </a:bodyPr>
          <a:lstStyle/>
          <a:p>
            <a:pPr algn="ctr"/>
            <a:r>
              <a:rPr sz="1000" b="1">
                <a:solidFill>
                  <a:srgbClr val="050B16"/>
                </a:solidFill>
                <a:latin typeface="Aptos"/>
              </a:rPr>
              <a:t>R</a:t>
            </a:r>
          </a:p>
        </p:txBody>
      </p:sp>
      <p:sp>
        <p:nvSpPr>
          <p:cNvPr id="5" name="TextBox 4"/>
          <p:cNvSpPr txBox="1"/>
          <p:nvPr/>
        </p:nvSpPr>
        <p:spPr>
          <a:xfrm>
            <a:off x="1042416" y="356616"/>
            <a:ext cx="1005840" cy="219456"/>
          </a:xfrm>
          <a:prstGeom prst="rect">
            <a:avLst/>
          </a:prstGeom>
          <a:noFill/>
        </p:spPr>
        <p:txBody>
          <a:bodyPr wrap="square" lIns="0" rIns="0" tIns="0" bIns="0" anchor="t">
            <a:spAutoFit/>
          </a:bodyPr>
          <a:lstStyle/>
          <a:p>
            <a:pPr algn="l"/>
            <a:r>
              <a:rPr sz="1500" b="1">
                <a:solidFill>
                  <a:srgbClr val="F8FAFC"/>
                </a:solidFill>
                <a:latin typeface="Aptos"/>
              </a:rPr>
              <a:t>replii</a:t>
            </a:r>
          </a:p>
        </p:txBody>
      </p:sp>
      <p:sp>
        <p:nvSpPr>
          <p:cNvPr id="6" name="TextBox 5"/>
          <p:cNvSpPr txBox="1"/>
          <p:nvPr/>
        </p:nvSpPr>
        <p:spPr>
          <a:xfrm>
            <a:off x="658368" y="6345936"/>
            <a:ext cx="2834640" cy="137160"/>
          </a:xfrm>
          <a:prstGeom prst="rect">
            <a:avLst/>
          </a:prstGeom>
          <a:noFill/>
        </p:spPr>
        <p:txBody>
          <a:bodyPr wrap="square" lIns="0" rIns="0" tIns="0" bIns="0" anchor="t">
            <a:spAutoFit/>
          </a:bodyPr>
          <a:lstStyle/>
          <a:p>
            <a:pPr algn="l"/>
            <a:r>
              <a:rPr sz="750" b="0">
                <a:solidFill>
                  <a:srgbClr val="A4B1C3"/>
                </a:solidFill>
                <a:latin typeface="Aptos"/>
              </a:rPr>
              <a:t>Confidential | Replii investor discussion</a:t>
            </a:r>
          </a:p>
        </p:txBody>
      </p:sp>
      <p:sp>
        <p:nvSpPr>
          <p:cNvPr id="7" name="TextBox 6"/>
          <p:cNvSpPr txBox="1"/>
          <p:nvPr/>
        </p:nvSpPr>
        <p:spPr>
          <a:xfrm>
            <a:off x="11155680" y="6345936"/>
            <a:ext cx="320040" cy="146304"/>
          </a:xfrm>
          <a:prstGeom prst="rect">
            <a:avLst/>
          </a:prstGeom>
          <a:noFill/>
        </p:spPr>
        <p:txBody>
          <a:bodyPr wrap="square" lIns="0" rIns="0" tIns="0" bIns="0" anchor="t">
            <a:spAutoFit/>
          </a:bodyPr>
          <a:lstStyle/>
          <a:p>
            <a:pPr algn="r"/>
            <a:r>
              <a:rPr sz="750" b="0">
                <a:solidFill>
                  <a:srgbClr val="A4B1C3"/>
                </a:solidFill>
                <a:latin typeface="Aptos"/>
              </a:rPr>
              <a:t>4</a:t>
            </a:r>
          </a:p>
        </p:txBody>
      </p:sp>
      <p:sp>
        <p:nvSpPr>
          <p:cNvPr id="8" name="TextBox 7"/>
          <p:cNvSpPr txBox="1"/>
          <p:nvPr/>
        </p:nvSpPr>
        <p:spPr>
          <a:xfrm>
            <a:off x="658368" y="1170432"/>
            <a:ext cx="3017520" cy="228600"/>
          </a:xfrm>
          <a:prstGeom prst="rect">
            <a:avLst/>
          </a:prstGeom>
          <a:noFill/>
        </p:spPr>
        <p:txBody>
          <a:bodyPr wrap="square" lIns="0" rIns="0" tIns="0" bIns="0" anchor="t">
            <a:spAutoFit/>
          </a:bodyPr>
          <a:lstStyle/>
          <a:p>
            <a:pPr algn="l"/>
            <a:r>
              <a:rPr sz="1230" b="1">
                <a:solidFill>
                  <a:srgbClr val="F8FAFC"/>
                </a:solidFill>
                <a:latin typeface="Aptos"/>
              </a:rPr>
              <a:t>Enabling live action</a:t>
            </a:r>
          </a:p>
        </p:txBody>
      </p:sp>
      <p:sp>
        <p:nvSpPr>
          <p:cNvPr id="9" name="Rounded Rectangle 8"/>
          <p:cNvSpPr/>
          <p:nvPr/>
        </p:nvSpPr>
        <p:spPr>
          <a:xfrm>
            <a:off x="658368" y="1623060"/>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623060"/>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1" name="TextBox 10"/>
          <p:cNvSpPr txBox="1"/>
          <p:nvPr/>
        </p:nvSpPr>
        <p:spPr>
          <a:xfrm>
            <a:off x="896112" y="1604772"/>
            <a:ext cx="3008376" cy="329184"/>
          </a:xfrm>
          <a:prstGeom prst="rect">
            <a:avLst/>
          </a:prstGeom>
          <a:noFill/>
        </p:spPr>
        <p:txBody>
          <a:bodyPr wrap="square" lIns="0" rIns="0" tIns="0" bIns="0" anchor="t">
            <a:spAutoFit/>
          </a:bodyPr>
          <a:lstStyle/>
          <a:p>
            <a:pPr algn="l"/>
            <a:r>
              <a:rPr sz="860" b="0">
                <a:solidFill>
                  <a:srgbClr val="CBD5E1"/>
                </a:solidFill>
                <a:latin typeface="Aptos"/>
              </a:rPr>
              <a:t>Sub-100ms inference inside the call, not after it.</a:t>
            </a:r>
          </a:p>
        </p:txBody>
      </p:sp>
      <p:sp>
        <p:nvSpPr>
          <p:cNvPr id="12" name="Rounded Rectangle 11"/>
          <p:cNvSpPr/>
          <p:nvPr/>
        </p:nvSpPr>
        <p:spPr>
          <a:xfrm>
            <a:off x="658368" y="229057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29057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4" name="TextBox 13"/>
          <p:cNvSpPr txBox="1"/>
          <p:nvPr/>
        </p:nvSpPr>
        <p:spPr>
          <a:xfrm>
            <a:off x="896112" y="2272284"/>
            <a:ext cx="3008376" cy="329184"/>
          </a:xfrm>
          <a:prstGeom prst="rect">
            <a:avLst/>
          </a:prstGeom>
          <a:noFill/>
        </p:spPr>
        <p:txBody>
          <a:bodyPr wrap="square" lIns="0" rIns="0" tIns="0" bIns="0" anchor="t">
            <a:spAutoFit/>
          </a:bodyPr>
          <a:lstStyle/>
          <a:p>
            <a:pPr algn="l"/>
            <a:r>
              <a:rPr sz="860" b="0">
                <a:solidFill>
                  <a:srgbClr val="CBD5E1"/>
                </a:solidFill>
                <a:latin typeface="Aptos"/>
              </a:rPr>
              <a:t>Real-time objection, intent and compliance detection.</a:t>
            </a:r>
          </a:p>
        </p:txBody>
      </p:sp>
      <p:sp>
        <p:nvSpPr>
          <p:cNvPr id="15" name="Rounded Rectangle 14"/>
          <p:cNvSpPr/>
          <p:nvPr/>
        </p:nvSpPr>
        <p:spPr>
          <a:xfrm>
            <a:off x="658368" y="2958084"/>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2958084"/>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7" name="TextBox 16"/>
          <p:cNvSpPr txBox="1"/>
          <p:nvPr/>
        </p:nvSpPr>
        <p:spPr>
          <a:xfrm>
            <a:off x="896112" y="2939796"/>
            <a:ext cx="3008376" cy="329184"/>
          </a:xfrm>
          <a:prstGeom prst="rect">
            <a:avLst/>
          </a:prstGeom>
          <a:noFill/>
        </p:spPr>
        <p:txBody>
          <a:bodyPr wrap="square" lIns="0" rIns="0" tIns="0" bIns="0" anchor="t">
            <a:spAutoFit/>
          </a:bodyPr>
          <a:lstStyle/>
          <a:p>
            <a:pPr algn="l"/>
            <a:r>
              <a:rPr sz="860" b="0">
                <a:solidFill>
                  <a:srgbClr val="CBD5E1"/>
                </a:solidFill>
                <a:latin typeface="Aptos"/>
              </a:rPr>
              <a:t>Prompts appear before the moment is lost.</a:t>
            </a:r>
          </a:p>
        </p:txBody>
      </p:sp>
      <p:sp>
        <p:nvSpPr>
          <p:cNvPr id="18" name="Rounded Rectangle 17"/>
          <p:cNvSpPr/>
          <p:nvPr/>
        </p:nvSpPr>
        <p:spPr>
          <a:xfrm>
            <a:off x="658368" y="3625596"/>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3625596"/>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0" name="TextBox 19"/>
          <p:cNvSpPr txBox="1"/>
          <p:nvPr/>
        </p:nvSpPr>
        <p:spPr>
          <a:xfrm>
            <a:off x="896112" y="3607308"/>
            <a:ext cx="3008376" cy="329184"/>
          </a:xfrm>
          <a:prstGeom prst="rect">
            <a:avLst/>
          </a:prstGeom>
          <a:noFill/>
        </p:spPr>
        <p:txBody>
          <a:bodyPr wrap="square" lIns="0" rIns="0" tIns="0" bIns="0" anchor="t">
            <a:spAutoFit/>
          </a:bodyPr>
          <a:lstStyle/>
          <a:p>
            <a:pPr algn="l"/>
            <a:r>
              <a:rPr sz="860" b="0">
                <a:solidFill>
                  <a:srgbClr val="CBD5E1"/>
                </a:solidFill>
                <a:latin typeface="Aptos"/>
              </a:rPr>
              <a:t>Post-call learning improves future intervention.</a:t>
            </a:r>
          </a:p>
        </p:txBody>
      </p:sp>
      <p:sp>
        <p:nvSpPr>
          <p:cNvPr id="21" name="Rectangle 20"/>
          <p:cNvSpPr/>
          <p:nvPr/>
        </p:nvSpPr>
        <p:spPr>
          <a:xfrm>
            <a:off x="4059936" y="1097280"/>
            <a:ext cx="10972" cy="4983480"/>
          </a:xfrm>
          <a:prstGeom prst="rect">
            <a:avLst/>
          </a:prstGeom>
          <a:solidFill>
            <a:srgbClr val="5F6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7408" y="1170432"/>
            <a:ext cx="3017520" cy="228600"/>
          </a:xfrm>
          <a:prstGeom prst="rect">
            <a:avLst/>
          </a:prstGeom>
          <a:noFill/>
        </p:spPr>
        <p:txBody>
          <a:bodyPr wrap="square" lIns="0" rIns="0" tIns="0" bIns="0" anchor="t">
            <a:spAutoFit/>
          </a:bodyPr>
          <a:lstStyle/>
          <a:p>
            <a:pPr algn="l"/>
            <a:r>
              <a:rPr sz="1230" b="1">
                <a:solidFill>
                  <a:srgbClr val="F8FAFC"/>
                </a:solidFill>
                <a:latin typeface="Aptos"/>
              </a:rPr>
              <a:t>Product innovation</a:t>
            </a:r>
          </a:p>
        </p:txBody>
      </p:sp>
      <p:sp>
        <p:nvSpPr>
          <p:cNvPr id="23" name="Rounded Rectangle 22"/>
          <p:cNvSpPr/>
          <p:nvPr/>
        </p:nvSpPr>
        <p:spPr>
          <a:xfrm>
            <a:off x="4407408" y="1623060"/>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25696" y="1623060"/>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5" name="TextBox 24"/>
          <p:cNvSpPr txBox="1"/>
          <p:nvPr/>
        </p:nvSpPr>
        <p:spPr>
          <a:xfrm>
            <a:off x="4645152" y="1604772"/>
            <a:ext cx="3008376" cy="329184"/>
          </a:xfrm>
          <a:prstGeom prst="rect">
            <a:avLst/>
          </a:prstGeom>
          <a:noFill/>
        </p:spPr>
        <p:txBody>
          <a:bodyPr wrap="square" lIns="0" rIns="0" tIns="0" bIns="0" anchor="t">
            <a:spAutoFit/>
          </a:bodyPr>
          <a:lstStyle/>
          <a:p>
            <a:pPr algn="l"/>
            <a:r>
              <a:rPr sz="860" b="0">
                <a:solidFill>
                  <a:srgbClr val="CBD5E1"/>
                </a:solidFill>
                <a:latin typeface="Aptos"/>
              </a:rPr>
              <a:t>Built as an audio + model routing layer, not a notes app.</a:t>
            </a:r>
          </a:p>
        </p:txBody>
      </p:sp>
      <p:sp>
        <p:nvSpPr>
          <p:cNvPr id="26" name="Rounded Rectangle 25"/>
          <p:cNvSpPr/>
          <p:nvPr/>
        </p:nvSpPr>
        <p:spPr>
          <a:xfrm>
            <a:off x="4407408" y="229057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5696" y="229057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8" name="TextBox 27"/>
          <p:cNvSpPr txBox="1"/>
          <p:nvPr/>
        </p:nvSpPr>
        <p:spPr>
          <a:xfrm>
            <a:off x="4645152" y="2272284"/>
            <a:ext cx="3008376" cy="329184"/>
          </a:xfrm>
          <a:prstGeom prst="rect">
            <a:avLst/>
          </a:prstGeom>
          <a:noFill/>
        </p:spPr>
        <p:txBody>
          <a:bodyPr wrap="square" lIns="0" rIns="0" tIns="0" bIns="0" anchor="t">
            <a:spAutoFit/>
          </a:bodyPr>
          <a:lstStyle/>
          <a:p>
            <a:pPr algn="l"/>
            <a:r>
              <a:rPr sz="860" b="0">
                <a:solidFill>
                  <a:srgbClr val="CBD5E1"/>
                </a:solidFill>
                <a:latin typeface="Aptos"/>
              </a:rPr>
              <a:t>Company-specific playbooks, language and risk models.</a:t>
            </a:r>
          </a:p>
        </p:txBody>
      </p:sp>
      <p:sp>
        <p:nvSpPr>
          <p:cNvPr id="29" name="Rounded Rectangle 28"/>
          <p:cNvSpPr/>
          <p:nvPr/>
        </p:nvSpPr>
        <p:spPr>
          <a:xfrm>
            <a:off x="4407408" y="2958084"/>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25696" y="2958084"/>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1" name="TextBox 30"/>
          <p:cNvSpPr txBox="1"/>
          <p:nvPr/>
        </p:nvSpPr>
        <p:spPr>
          <a:xfrm>
            <a:off x="4645152" y="2939796"/>
            <a:ext cx="3008376" cy="329184"/>
          </a:xfrm>
          <a:prstGeom prst="rect">
            <a:avLst/>
          </a:prstGeom>
          <a:noFill/>
        </p:spPr>
        <p:txBody>
          <a:bodyPr wrap="square" lIns="0" rIns="0" tIns="0" bIns="0" anchor="t">
            <a:spAutoFit/>
          </a:bodyPr>
          <a:lstStyle/>
          <a:p>
            <a:pPr algn="l"/>
            <a:r>
              <a:rPr sz="860" b="0">
                <a:solidFill>
                  <a:srgbClr val="CBD5E1"/>
                </a:solidFill>
                <a:latin typeface="Aptos"/>
              </a:rPr>
              <a:t>Works across sales, support and regulated voice teams.</a:t>
            </a:r>
          </a:p>
        </p:txBody>
      </p:sp>
      <p:sp>
        <p:nvSpPr>
          <p:cNvPr id="32" name="Rounded Rectangle 31"/>
          <p:cNvSpPr/>
          <p:nvPr/>
        </p:nvSpPr>
        <p:spPr>
          <a:xfrm>
            <a:off x="4407408" y="3625596"/>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25696" y="3625596"/>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4" name="TextBox 33"/>
          <p:cNvSpPr txBox="1"/>
          <p:nvPr/>
        </p:nvSpPr>
        <p:spPr>
          <a:xfrm>
            <a:off x="4645152" y="3607308"/>
            <a:ext cx="3008376" cy="329184"/>
          </a:xfrm>
          <a:prstGeom prst="rect">
            <a:avLst/>
          </a:prstGeom>
          <a:noFill/>
        </p:spPr>
        <p:txBody>
          <a:bodyPr wrap="square" lIns="0" rIns="0" tIns="0" bIns="0" anchor="t">
            <a:spAutoFit/>
          </a:bodyPr>
          <a:lstStyle/>
          <a:p>
            <a:pPr algn="l"/>
            <a:r>
              <a:rPr sz="860" b="0">
                <a:solidFill>
                  <a:srgbClr val="CBD5E1"/>
                </a:solidFill>
                <a:latin typeface="Aptos"/>
              </a:rPr>
              <a:t>Every conversation can improve the guidance layer.</a:t>
            </a:r>
          </a:p>
        </p:txBody>
      </p:sp>
      <p:sp>
        <p:nvSpPr>
          <p:cNvPr id="35" name="Rectangle 34"/>
          <p:cNvSpPr/>
          <p:nvPr/>
        </p:nvSpPr>
        <p:spPr>
          <a:xfrm>
            <a:off x="7808976" y="1097280"/>
            <a:ext cx="10972" cy="4983480"/>
          </a:xfrm>
          <a:prstGeom prst="rect">
            <a:avLst/>
          </a:prstGeom>
          <a:solidFill>
            <a:srgbClr val="5F6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56448" y="1170432"/>
            <a:ext cx="3017520" cy="228600"/>
          </a:xfrm>
          <a:prstGeom prst="rect">
            <a:avLst/>
          </a:prstGeom>
          <a:noFill/>
        </p:spPr>
        <p:txBody>
          <a:bodyPr wrap="square" lIns="0" rIns="0" tIns="0" bIns="0" anchor="t">
            <a:spAutoFit/>
          </a:bodyPr>
          <a:lstStyle/>
          <a:p>
            <a:pPr algn="l"/>
            <a:r>
              <a:rPr sz="1230" b="1">
                <a:solidFill>
                  <a:srgbClr val="F8FAFC"/>
                </a:solidFill>
                <a:latin typeface="Aptos"/>
              </a:rPr>
              <a:t>Durable business model</a:t>
            </a:r>
          </a:p>
        </p:txBody>
      </p:sp>
      <p:sp>
        <p:nvSpPr>
          <p:cNvPr id="37" name="Rounded Rectangle 36"/>
          <p:cNvSpPr/>
          <p:nvPr/>
        </p:nvSpPr>
        <p:spPr>
          <a:xfrm>
            <a:off x="8156448" y="1623060"/>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74736" y="1623060"/>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9" name="TextBox 38"/>
          <p:cNvSpPr txBox="1"/>
          <p:nvPr/>
        </p:nvSpPr>
        <p:spPr>
          <a:xfrm>
            <a:off x="8394192" y="1604772"/>
            <a:ext cx="3008376" cy="329184"/>
          </a:xfrm>
          <a:prstGeom prst="rect">
            <a:avLst/>
          </a:prstGeom>
          <a:noFill/>
        </p:spPr>
        <p:txBody>
          <a:bodyPr wrap="square" lIns="0" rIns="0" tIns="0" bIns="0" anchor="t">
            <a:spAutoFit/>
          </a:bodyPr>
          <a:lstStyle/>
          <a:p>
            <a:pPr algn="l"/>
            <a:r>
              <a:rPr sz="860" b="0">
                <a:solidFill>
                  <a:srgbClr val="CBD5E1"/>
                </a:solidFill>
                <a:latin typeface="Aptos"/>
              </a:rPr>
              <a:t>Land with VP Sales / CRO teams at clear revenue ROI.</a:t>
            </a:r>
          </a:p>
        </p:txBody>
      </p:sp>
      <p:sp>
        <p:nvSpPr>
          <p:cNvPr id="40" name="Rounded Rectangle 39"/>
          <p:cNvSpPr/>
          <p:nvPr/>
        </p:nvSpPr>
        <p:spPr>
          <a:xfrm>
            <a:off x="8156448" y="229057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74736" y="229057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42" name="TextBox 41"/>
          <p:cNvSpPr txBox="1"/>
          <p:nvPr/>
        </p:nvSpPr>
        <p:spPr>
          <a:xfrm>
            <a:off x="8394192" y="2272284"/>
            <a:ext cx="3008376" cy="329184"/>
          </a:xfrm>
          <a:prstGeom prst="rect">
            <a:avLst/>
          </a:prstGeom>
          <a:noFill/>
        </p:spPr>
        <p:txBody>
          <a:bodyPr wrap="square" lIns="0" rIns="0" tIns="0" bIns="0" anchor="t">
            <a:spAutoFit/>
          </a:bodyPr>
          <a:lstStyle/>
          <a:p>
            <a:pPr algn="l"/>
            <a:r>
              <a:rPr sz="860" b="0">
                <a:solidFill>
                  <a:srgbClr val="CBD5E1"/>
                </a:solidFill>
                <a:latin typeface="Aptos"/>
              </a:rPr>
              <a:t>Expand into contact centres where compliance ROI is larger.</a:t>
            </a:r>
          </a:p>
        </p:txBody>
      </p:sp>
      <p:sp>
        <p:nvSpPr>
          <p:cNvPr id="43" name="Rounded Rectangle 42"/>
          <p:cNvSpPr/>
          <p:nvPr/>
        </p:nvSpPr>
        <p:spPr>
          <a:xfrm>
            <a:off x="8156448" y="2958084"/>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74736" y="2958084"/>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45" name="TextBox 44"/>
          <p:cNvSpPr txBox="1"/>
          <p:nvPr/>
        </p:nvSpPr>
        <p:spPr>
          <a:xfrm>
            <a:off x="8394192" y="2939796"/>
            <a:ext cx="3008376" cy="329184"/>
          </a:xfrm>
          <a:prstGeom prst="rect">
            <a:avLst/>
          </a:prstGeom>
          <a:noFill/>
        </p:spPr>
        <p:txBody>
          <a:bodyPr wrap="square" lIns="0" rIns="0" tIns="0" bIns="0" anchor="t">
            <a:spAutoFit/>
          </a:bodyPr>
          <a:lstStyle/>
          <a:p>
            <a:pPr algn="l"/>
            <a:r>
              <a:rPr sz="860" b="0">
                <a:solidFill>
                  <a:srgbClr val="CBD5E1"/>
                </a:solidFill>
                <a:latin typeface="Aptos"/>
              </a:rPr>
              <a:t>Certifications and regulated workflows create barriers.</a:t>
            </a:r>
          </a:p>
        </p:txBody>
      </p:sp>
      <p:sp>
        <p:nvSpPr>
          <p:cNvPr id="46" name="Rounded Rectangle 45"/>
          <p:cNvSpPr/>
          <p:nvPr/>
        </p:nvSpPr>
        <p:spPr>
          <a:xfrm>
            <a:off x="8156448" y="3625596"/>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74736" y="3625596"/>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48" name="TextBox 47"/>
          <p:cNvSpPr txBox="1"/>
          <p:nvPr/>
        </p:nvSpPr>
        <p:spPr>
          <a:xfrm>
            <a:off x="8394192" y="3607308"/>
            <a:ext cx="3008376" cy="329184"/>
          </a:xfrm>
          <a:prstGeom prst="rect">
            <a:avLst/>
          </a:prstGeom>
          <a:noFill/>
        </p:spPr>
        <p:txBody>
          <a:bodyPr wrap="square" lIns="0" rIns="0" tIns="0" bIns="0" anchor="t">
            <a:spAutoFit/>
          </a:bodyPr>
          <a:lstStyle/>
          <a:p>
            <a:pPr algn="l"/>
            <a:r>
              <a:rPr sz="860" b="0">
                <a:solidFill>
                  <a:srgbClr val="CBD5E1"/>
                </a:solidFill>
                <a:latin typeface="Aptos"/>
              </a:rPr>
              <a:t>Platform value compounds with workflow depth and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ii-bg-al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58368" y="347472"/>
            <a:ext cx="292608" cy="292608"/>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06908"/>
            <a:ext cx="292608" cy="109728"/>
          </a:xfrm>
          <a:prstGeom prst="rect">
            <a:avLst/>
          </a:prstGeom>
          <a:noFill/>
        </p:spPr>
        <p:txBody>
          <a:bodyPr wrap="square" lIns="0" rIns="0" tIns="0" bIns="0" anchor="t">
            <a:spAutoFit/>
          </a:bodyPr>
          <a:lstStyle/>
          <a:p>
            <a:pPr algn="ctr"/>
            <a:r>
              <a:rPr sz="1000" b="1">
                <a:solidFill>
                  <a:srgbClr val="050B16"/>
                </a:solidFill>
                <a:latin typeface="Aptos"/>
              </a:rPr>
              <a:t>R</a:t>
            </a:r>
          </a:p>
        </p:txBody>
      </p:sp>
      <p:sp>
        <p:nvSpPr>
          <p:cNvPr id="5" name="TextBox 4"/>
          <p:cNvSpPr txBox="1"/>
          <p:nvPr/>
        </p:nvSpPr>
        <p:spPr>
          <a:xfrm>
            <a:off x="1042416" y="356616"/>
            <a:ext cx="1005840" cy="219456"/>
          </a:xfrm>
          <a:prstGeom prst="rect">
            <a:avLst/>
          </a:prstGeom>
          <a:noFill/>
        </p:spPr>
        <p:txBody>
          <a:bodyPr wrap="square" lIns="0" rIns="0" tIns="0" bIns="0" anchor="t">
            <a:spAutoFit/>
          </a:bodyPr>
          <a:lstStyle/>
          <a:p>
            <a:pPr algn="l"/>
            <a:r>
              <a:rPr sz="1500" b="1">
                <a:solidFill>
                  <a:srgbClr val="F8FAFC"/>
                </a:solidFill>
                <a:latin typeface="Aptos"/>
              </a:rPr>
              <a:t>replii</a:t>
            </a:r>
          </a:p>
        </p:txBody>
      </p:sp>
      <p:sp>
        <p:nvSpPr>
          <p:cNvPr id="6" name="TextBox 5"/>
          <p:cNvSpPr txBox="1"/>
          <p:nvPr/>
        </p:nvSpPr>
        <p:spPr>
          <a:xfrm>
            <a:off x="658368" y="6345936"/>
            <a:ext cx="2834640" cy="137160"/>
          </a:xfrm>
          <a:prstGeom prst="rect">
            <a:avLst/>
          </a:prstGeom>
          <a:noFill/>
        </p:spPr>
        <p:txBody>
          <a:bodyPr wrap="square" lIns="0" rIns="0" tIns="0" bIns="0" anchor="t">
            <a:spAutoFit/>
          </a:bodyPr>
          <a:lstStyle/>
          <a:p>
            <a:pPr algn="l"/>
            <a:r>
              <a:rPr sz="750" b="0">
                <a:solidFill>
                  <a:srgbClr val="A4B1C3"/>
                </a:solidFill>
                <a:latin typeface="Aptos"/>
              </a:rPr>
              <a:t>Confidential | Replii investor discussion</a:t>
            </a:r>
          </a:p>
        </p:txBody>
      </p:sp>
      <p:sp>
        <p:nvSpPr>
          <p:cNvPr id="7" name="TextBox 6"/>
          <p:cNvSpPr txBox="1"/>
          <p:nvPr/>
        </p:nvSpPr>
        <p:spPr>
          <a:xfrm>
            <a:off x="11155680" y="6345936"/>
            <a:ext cx="320040" cy="146304"/>
          </a:xfrm>
          <a:prstGeom prst="rect">
            <a:avLst/>
          </a:prstGeom>
          <a:noFill/>
        </p:spPr>
        <p:txBody>
          <a:bodyPr wrap="square" lIns="0" rIns="0" tIns="0" bIns="0" anchor="t">
            <a:spAutoFit/>
          </a:bodyPr>
          <a:lstStyle/>
          <a:p>
            <a:pPr algn="r"/>
            <a:r>
              <a:rPr sz="750" b="0">
                <a:solidFill>
                  <a:srgbClr val="A4B1C3"/>
                </a:solidFill>
                <a:latin typeface="Aptos"/>
              </a:rPr>
              <a:t>5</a:t>
            </a:r>
          </a:p>
        </p:txBody>
      </p:sp>
      <p:sp>
        <p:nvSpPr>
          <p:cNvPr id="8" name="TextBox 7"/>
          <p:cNvSpPr txBox="1"/>
          <p:nvPr/>
        </p:nvSpPr>
        <p:spPr>
          <a:xfrm>
            <a:off x="658368" y="868680"/>
            <a:ext cx="2743200" cy="274320"/>
          </a:xfrm>
          <a:prstGeom prst="rect">
            <a:avLst/>
          </a:prstGeom>
          <a:noFill/>
        </p:spPr>
        <p:txBody>
          <a:bodyPr wrap="square" lIns="0" rIns="0" tIns="0" bIns="0" anchor="t">
            <a:spAutoFit/>
          </a:bodyPr>
          <a:lstStyle/>
          <a:p>
            <a:pPr algn="l"/>
            <a:r>
              <a:rPr sz="1500" b="1">
                <a:solidFill>
                  <a:srgbClr val="F8FAFC"/>
                </a:solidFill>
                <a:latin typeface="Aptos"/>
              </a:rPr>
              <a:t>The problem</a:t>
            </a:r>
          </a:p>
        </p:txBody>
      </p:sp>
      <p:sp>
        <p:nvSpPr>
          <p:cNvPr id="9" name="TextBox 8"/>
          <p:cNvSpPr txBox="1"/>
          <p:nvPr/>
        </p:nvSpPr>
        <p:spPr>
          <a:xfrm>
            <a:off x="658368" y="1234440"/>
            <a:ext cx="7315200" cy="914400"/>
          </a:xfrm>
          <a:prstGeom prst="rect">
            <a:avLst/>
          </a:prstGeom>
          <a:noFill/>
        </p:spPr>
        <p:txBody>
          <a:bodyPr wrap="square" lIns="0" rIns="0" tIns="0" bIns="0" anchor="t">
            <a:spAutoFit/>
          </a:bodyPr>
          <a:lstStyle/>
          <a:p>
            <a:pPr algn="l"/>
            <a:r>
              <a:rPr sz="3200" b="1">
                <a:solidFill>
                  <a:srgbClr val="F8FAFC"/>
                </a:solidFill>
                <a:latin typeface="Aptos"/>
              </a:rPr>
              <a:t>Conversation AI arrives too late</a:t>
            </a:r>
          </a:p>
        </p:txBody>
      </p:sp>
      <p:sp>
        <p:nvSpPr>
          <p:cNvPr id="10" name="TextBox 9"/>
          <p:cNvSpPr txBox="1"/>
          <p:nvPr/>
        </p:nvSpPr>
        <p:spPr>
          <a:xfrm>
            <a:off x="658368" y="1975104"/>
            <a:ext cx="6766560" cy="457200"/>
          </a:xfrm>
          <a:prstGeom prst="rect">
            <a:avLst/>
          </a:prstGeom>
          <a:noFill/>
        </p:spPr>
        <p:txBody>
          <a:bodyPr wrap="square" lIns="0" rIns="0" tIns="0" bIns="0" anchor="t">
            <a:spAutoFit/>
          </a:bodyPr>
          <a:lstStyle/>
          <a:p>
            <a:pPr algn="l"/>
            <a:r>
              <a:rPr sz="1250" b="0">
                <a:solidFill>
                  <a:srgbClr val="CBD5E1"/>
                </a:solidFill>
                <a:latin typeface="Aptos"/>
              </a:rPr>
              <a:t>Post-call intelligence cannot rescue the moment when a rep, agent or customer is already under pressure.</a:t>
            </a:r>
          </a:p>
        </p:txBody>
      </p:sp>
      <p:sp>
        <p:nvSpPr>
          <p:cNvPr id="11" name="Rounded Rectangle 10"/>
          <p:cNvSpPr/>
          <p:nvPr/>
        </p:nvSpPr>
        <p:spPr>
          <a:xfrm>
            <a:off x="749808" y="3072384"/>
            <a:ext cx="3063240" cy="1143000"/>
          </a:xfrm>
          <a:prstGeom prst="roundRect">
            <a:avLst/>
          </a:prstGeom>
          <a:solidFill>
            <a:srgbClr val="0E1523"/>
          </a:solidFill>
          <a:ln w="10160">
            <a:solidFill>
              <a:srgbClr val="435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3310128"/>
            <a:ext cx="2560320" cy="274320"/>
          </a:xfrm>
          <a:prstGeom prst="rect">
            <a:avLst/>
          </a:prstGeom>
          <a:noFill/>
        </p:spPr>
        <p:txBody>
          <a:bodyPr wrap="square" lIns="0" rIns="0" tIns="0" bIns="0" anchor="t">
            <a:spAutoFit/>
          </a:bodyPr>
          <a:lstStyle/>
          <a:p>
            <a:pPr algn="l"/>
            <a:r>
              <a:rPr sz="2200" b="1">
                <a:solidFill>
                  <a:srgbClr val="65FFAF"/>
                </a:solidFill>
                <a:latin typeface="Aptos"/>
              </a:rPr>
              <a:t>2-5s</a:t>
            </a:r>
          </a:p>
        </p:txBody>
      </p:sp>
      <p:sp>
        <p:nvSpPr>
          <p:cNvPr id="13" name="TextBox 12"/>
          <p:cNvSpPr txBox="1"/>
          <p:nvPr/>
        </p:nvSpPr>
        <p:spPr>
          <a:xfrm>
            <a:off x="978408" y="3749039"/>
            <a:ext cx="2560320" cy="237744"/>
          </a:xfrm>
          <a:prstGeom prst="rect">
            <a:avLst/>
          </a:prstGeom>
          <a:noFill/>
        </p:spPr>
        <p:txBody>
          <a:bodyPr wrap="square" lIns="0" rIns="0" tIns="0" bIns="0" anchor="t">
            <a:spAutoFit/>
          </a:bodyPr>
          <a:lstStyle/>
          <a:p>
            <a:pPr algn="l"/>
            <a:r>
              <a:rPr sz="940" b="0">
                <a:solidFill>
                  <a:srgbClr val="A4B1C3"/>
                </a:solidFill>
                <a:latin typeface="Aptos"/>
              </a:rPr>
              <a:t>typical “real-time” latency</a:t>
            </a:r>
          </a:p>
        </p:txBody>
      </p:sp>
      <p:sp>
        <p:nvSpPr>
          <p:cNvPr id="14" name="Rounded Rectangle 13"/>
          <p:cNvSpPr/>
          <p:nvPr/>
        </p:nvSpPr>
        <p:spPr>
          <a:xfrm>
            <a:off x="4453128" y="3072384"/>
            <a:ext cx="3063240" cy="1143000"/>
          </a:xfrm>
          <a:prstGeom prst="roundRect">
            <a:avLst/>
          </a:prstGeom>
          <a:solidFill>
            <a:srgbClr val="0E1523"/>
          </a:solidFill>
          <a:ln w="10160">
            <a:solidFill>
              <a:srgbClr val="435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81728" y="3310128"/>
            <a:ext cx="2560320" cy="274320"/>
          </a:xfrm>
          <a:prstGeom prst="rect">
            <a:avLst/>
          </a:prstGeom>
          <a:noFill/>
        </p:spPr>
        <p:txBody>
          <a:bodyPr wrap="square" lIns="0" rIns="0" tIns="0" bIns="0" anchor="t">
            <a:spAutoFit/>
          </a:bodyPr>
          <a:lstStyle/>
          <a:p>
            <a:pPr algn="l"/>
            <a:r>
              <a:rPr sz="2200" b="1">
                <a:solidFill>
                  <a:srgbClr val="F8FAFC"/>
                </a:solidFill>
                <a:latin typeface="Aptos"/>
              </a:rPr>
              <a:t>0s</a:t>
            </a:r>
          </a:p>
        </p:txBody>
      </p:sp>
      <p:sp>
        <p:nvSpPr>
          <p:cNvPr id="16" name="TextBox 15"/>
          <p:cNvSpPr txBox="1"/>
          <p:nvPr/>
        </p:nvSpPr>
        <p:spPr>
          <a:xfrm>
            <a:off x="4681728" y="3749039"/>
            <a:ext cx="2560320" cy="237744"/>
          </a:xfrm>
          <a:prstGeom prst="rect">
            <a:avLst/>
          </a:prstGeom>
          <a:noFill/>
        </p:spPr>
        <p:txBody>
          <a:bodyPr wrap="square" lIns="0" rIns="0" tIns="0" bIns="0" anchor="t">
            <a:spAutoFit/>
          </a:bodyPr>
          <a:lstStyle/>
          <a:p>
            <a:pPr algn="l"/>
            <a:r>
              <a:rPr sz="940" b="0">
                <a:solidFill>
                  <a:srgbClr val="A4B1C3"/>
                </a:solidFill>
                <a:latin typeface="Aptos"/>
              </a:rPr>
              <a:t>time available under pressure</a:t>
            </a:r>
          </a:p>
        </p:txBody>
      </p:sp>
      <p:sp>
        <p:nvSpPr>
          <p:cNvPr id="17" name="Rounded Rectangle 16"/>
          <p:cNvSpPr/>
          <p:nvPr/>
        </p:nvSpPr>
        <p:spPr>
          <a:xfrm>
            <a:off x="8156448" y="3072384"/>
            <a:ext cx="3063240" cy="1143000"/>
          </a:xfrm>
          <a:prstGeom prst="roundRect">
            <a:avLst/>
          </a:prstGeom>
          <a:solidFill>
            <a:srgbClr val="0E1523"/>
          </a:solidFill>
          <a:ln w="10160">
            <a:solidFill>
              <a:srgbClr val="435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5048" y="3310128"/>
            <a:ext cx="2560320" cy="274320"/>
          </a:xfrm>
          <a:prstGeom prst="rect">
            <a:avLst/>
          </a:prstGeom>
          <a:noFill/>
        </p:spPr>
        <p:txBody>
          <a:bodyPr wrap="square" lIns="0" rIns="0" tIns="0" bIns="0" anchor="t">
            <a:spAutoFit/>
          </a:bodyPr>
          <a:lstStyle/>
          <a:p>
            <a:pPr algn="l"/>
            <a:r>
              <a:rPr sz="2200" b="1">
                <a:solidFill>
                  <a:srgbClr val="F8FAFC"/>
                </a:solidFill>
                <a:latin typeface="Aptos"/>
              </a:rPr>
              <a:t>£50m+</a:t>
            </a:r>
          </a:p>
        </p:txBody>
      </p:sp>
      <p:sp>
        <p:nvSpPr>
          <p:cNvPr id="19" name="TextBox 18"/>
          <p:cNvSpPr txBox="1"/>
          <p:nvPr/>
        </p:nvSpPr>
        <p:spPr>
          <a:xfrm>
            <a:off x="8385048" y="3749039"/>
            <a:ext cx="2560320" cy="237744"/>
          </a:xfrm>
          <a:prstGeom prst="rect">
            <a:avLst/>
          </a:prstGeom>
          <a:noFill/>
        </p:spPr>
        <p:txBody>
          <a:bodyPr wrap="square" lIns="0" rIns="0" tIns="0" bIns="0" anchor="t">
            <a:spAutoFit/>
          </a:bodyPr>
          <a:lstStyle/>
          <a:p>
            <a:pPr algn="l"/>
            <a:r>
              <a:rPr sz="940" b="0">
                <a:solidFill>
                  <a:srgbClr val="A4B1C3"/>
                </a:solidFill>
                <a:latin typeface="Aptos"/>
              </a:rPr>
              <a:t>potential cost of a major compliance failure</a:t>
            </a:r>
          </a:p>
        </p:txBody>
      </p:sp>
      <p:sp>
        <p:nvSpPr>
          <p:cNvPr id="20" name="TextBox 19"/>
          <p:cNvSpPr txBox="1"/>
          <p:nvPr/>
        </p:nvSpPr>
        <p:spPr>
          <a:xfrm>
            <a:off x="658368" y="4983480"/>
            <a:ext cx="8778240" cy="457200"/>
          </a:xfrm>
          <a:prstGeom prst="rect">
            <a:avLst/>
          </a:prstGeom>
          <a:noFill/>
        </p:spPr>
        <p:txBody>
          <a:bodyPr wrap="square" lIns="0" rIns="0" tIns="0" bIns="0" anchor="t">
            <a:spAutoFit/>
          </a:bodyPr>
          <a:lstStyle/>
          <a:p>
            <a:pPr algn="l"/>
            <a:r>
              <a:rPr sz="1500" b="0">
                <a:solidFill>
                  <a:srgbClr val="CBD5E1"/>
                </a:solidFill>
                <a:latin typeface="Aptos"/>
              </a:rPr>
              <a:t>The category has been built around what happened. The next category is built around what happens next.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ii-bg-main.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58368" y="347472"/>
            <a:ext cx="292608" cy="292608"/>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06908"/>
            <a:ext cx="292608" cy="109728"/>
          </a:xfrm>
          <a:prstGeom prst="rect">
            <a:avLst/>
          </a:prstGeom>
          <a:noFill/>
        </p:spPr>
        <p:txBody>
          <a:bodyPr wrap="square" lIns="0" rIns="0" tIns="0" bIns="0" anchor="t">
            <a:spAutoFit/>
          </a:bodyPr>
          <a:lstStyle/>
          <a:p>
            <a:pPr algn="ctr"/>
            <a:r>
              <a:rPr sz="1000" b="1">
                <a:solidFill>
                  <a:srgbClr val="050B16"/>
                </a:solidFill>
                <a:latin typeface="Aptos"/>
              </a:rPr>
              <a:t>R</a:t>
            </a:r>
          </a:p>
        </p:txBody>
      </p:sp>
      <p:sp>
        <p:nvSpPr>
          <p:cNvPr id="5" name="TextBox 4"/>
          <p:cNvSpPr txBox="1"/>
          <p:nvPr/>
        </p:nvSpPr>
        <p:spPr>
          <a:xfrm>
            <a:off x="1042416" y="356616"/>
            <a:ext cx="1005840" cy="219456"/>
          </a:xfrm>
          <a:prstGeom prst="rect">
            <a:avLst/>
          </a:prstGeom>
          <a:noFill/>
        </p:spPr>
        <p:txBody>
          <a:bodyPr wrap="square" lIns="0" rIns="0" tIns="0" bIns="0" anchor="t">
            <a:spAutoFit/>
          </a:bodyPr>
          <a:lstStyle/>
          <a:p>
            <a:pPr algn="l"/>
            <a:r>
              <a:rPr sz="1500" b="1">
                <a:solidFill>
                  <a:srgbClr val="F8FAFC"/>
                </a:solidFill>
                <a:latin typeface="Aptos"/>
              </a:rPr>
              <a:t>replii</a:t>
            </a:r>
          </a:p>
        </p:txBody>
      </p:sp>
      <p:sp>
        <p:nvSpPr>
          <p:cNvPr id="6" name="TextBox 5"/>
          <p:cNvSpPr txBox="1"/>
          <p:nvPr/>
        </p:nvSpPr>
        <p:spPr>
          <a:xfrm>
            <a:off x="658368" y="6345936"/>
            <a:ext cx="2834640" cy="137160"/>
          </a:xfrm>
          <a:prstGeom prst="rect">
            <a:avLst/>
          </a:prstGeom>
          <a:noFill/>
        </p:spPr>
        <p:txBody>
          <a:bodyPr wrap="square" lIns="0" rIns="0" tIns="0" bIns="0" anchor="t">
            <a:spAutoFit/>
          </a:bodyPr>
          <a:lstStyle/>
          <a:p>
            <a:pPr algn="l"/>
            <a:r>
              <a:rPr sz="750" b="0">
                <a:solidFill>
                  <a:srgbClr val="A4B1C3"/>
                </a:solidFill>
                <a:latin typeface="Aptos"/>
              </a:rPr>
              <a:t>Confidential | Replii investor discussion</a:t>
            </a:r>
          </a:p>
        </p:txBody>
      </p:sp>
      <p:sp>
        <p:nvSpPr>
          <p:cNvPr id="7" name="TextBox 6"/>
          <p:cNvSpPr txBox="1"/>
          <p:nvPr/>
        </p:nvSpPr>
        <p:spPr>
          <a:xfrm>
            <a:off x="11155680" y="6345936"/>
            <a:ext cx="320040" cy="146304"/>
          </a:xfrm>
          <a:prstGeom prst="rect">
            <a:avLst/>
          </a:prstGeom>
          <a:noFill/>
        </p:spPr>
        <p:txBody>
          <a:bodyPr wrap="square" lIns="0" rIns="0" tIns="0" bIns="0" anchor="t">
            <a:spAutoFit/>
          </a:bodyPr>
          <a:lstStyle/>
          <a:p>
            <a:pPr algn="r"/>
            <a:r>
              <a:rPr sz="750" b="0">
                <a:solidFill>
                  <a:srgbClr val="A4B1C3"/>
                </a:solidFill>
                <a:latin typeface="Aptos"/>
              </a:rPr>
              <a:t>6</a:t>
            </a:r>
          </a:p>
        </p:txBody>
      </p:sp>
      <p:sp>
        <p:nvSpPr>
          <p:cNvPr id="8" name="TextBox 7"/>
          <p:cNvSpPr txBox="1"/>
          <p:nvPr/>
        </p:nvSpPr>
        <p:spPr>
          <a:xfrm>
            <a:off x="658368" y="868680"/>
            <a:ext cx="3657600" cy="274320"/>
          </a:xfrm>
          <a:prstGeom prst="rect">
            <a:avLst/>
          </a:prstGeom>
          <a:noFill/>
        </p:spPr>
        <p:txBody>
          <a:bodyPr wrap="square" lIns="0" rIns="0" tIns="0" bIns="0" anchor="t">
            <a:spAutoFit/>
          </a:bodyPr>
          <a:lstStyle/>
          <a:p>
            <a:pPr algn="l"/>
            <a:r>
              <a:rPr sz="1500" b="1">
                <a:solidFill>
                  <a:srgbClr val="F8FAFC"/>
                </a:solidFill>
                <a:latin typeface="Aptos"/>
              </a:rPr>
              <a:t>The breakthrough</a:t>
            </a:r>
          </a:p>
        </p:txBody>
      </p:sp>
      <p:sp>
        <p:nvSpPr>
          <p:cNvPr id="9" name="TextBox 8"/>
          <p:cNvSpPr txBox="1"/>
          <p:nvPr/>
        </p:nvSpPr>
        <p:spPr>
          <a:xfrm>
            <a:off x="658368" y="1234440"/>
            <a:ext cx="7863840" cy="914400"/>
          </a:xfrm>
          <a:prstGeom prst="rect">
            <a:avLst/>
          </a:prstGeom>
          <a:noFill/>
        </p:spPr>
        <p:txBody>
          <a:bodyPr wrap="square" lIns="0" rIns="0" tIns="0" bIns="0" anchor="t">
            <a:spAutoFit/>
          </a:bodyPr>
          <a:lstStyle/>
          <a:p>
            <a:pPr algn="l"/>
            <a:r>
              <a:rPr sz="3200" b="1">
                <a:solidFill>
                  <a:srgbClr val="F8FAFC"/>
                </a:solidFill>
                <a:latin typeface="Aptos"/>
              </a:rPr>
              <a:t>Sub-100ms changes what AI can do</a:t>
            </a:r>
          </a:p>
        </p:txBody>
      </p:sp>
      <p:sp>
        <p:nvSpPr>
          <p:cNvPr id="10" name="TextBox 9"/>
          <p:cNvSpPr txBox="1"/>
          <p:nvPr/>
        </p:nvSpPr>
        <p:spPr>
          <a:xfrm>
            <a:off x="658368" y="1965960"/>
            <a:ext cx="6858000" cy="457200"/>
          </a:xfrm>
          <a:prstGeom prst="rect">
            <a:avLst/>
          </a:prstGeom>
          <a:noFill/>
        </p:spPr>
        <p:txBody>
          <a:bodyPr wrap="square" lIns="0" rIns="0" tIns="0" bIns="0" anchor="t">
            <a:spAutoFit/>
          </a:bodyPr>
          <a:lstStyle/>
          <a:p>
            <a:pPr algn="l"/>
            <a:r>
              <a:rPr sz="1250" b="0">
                <a:solidFill>
                  <a:srgbClr val="CBD5E1"/>
                </a:solidFill>
                <a:latin typeface="Aptos"/>
              </a:rPr>
              <a:t>At this latency, AI moves from passive analyst to active conversation infrastructure.</a:t>
            </a:r>
          </a:p>
        </p:txBody>
      </p:sp>
      <p:sp>
        <p:nvSpPr>
          <p:cNvPr id="11" name="Rectangle 10"/>
          <p:cNvSpPr/>
          <p:nvPr/>
        </p:nvSpPr>
        <p:spPr>
          <a:xfrm>
            <a:off x="960120" y="3200400"/>
            <a:ext cx="9966960" cy="32004"/>
          </a:xfrm>
          <a:prstGeom prst="rect">
            <a:avLst/>
          </a:prstGeom>
          <a:solidFill>
            <a:srgbClr val="6574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4108" y="3113532"/>
            <a:ext cx="192024" cy="192024"/>
          </a:xfrm>
          <a:prstGeom prst="ellipse">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493008"/>
            <a:ext cx="731520" cy="155448"/>
          </a:xfrm>
          <a:prstGeom prst="rect">
            <a:avLst/>
          </a:prstGeom>
          <a:noFill/>
        </p:spPr>
        <p:txBody>
          <a:bodyPr wrap="square" lIns="0" rIns="0" tIns="0" bIns="0" anchor="t">
            <a:spAutoFit/>
          </a:bodyPr>
          <a:lstStyle/>
          <a:p>
            <a:pPr algn="ctr"/>
            <a:r>
              <a:rPr sz="850" b="0">
                <a:solidFill>
                  <a:srgbClr val="CBD5E1"/>
                </a:solidFill>
                <a:latin typeface="Aptos"/>
              </a:rPr>
              <a:t>Audio</a:t>
            </a:r>
          </a:p>
        </p:txBody>
      </p:sp>
      <p:sp>
        <p:nvSpPr>
          <p:cNvPr id="14" name="Oval 13"/>
          <p:cNvSpPr/>
          <p:nvPr/>
        </p:nvSpPr>
        <p:spPr>
          <a:xfrm>
            <a:off x="3455517" y="3113532"/>
            <a:ext cx="192024" cy="192024"/>
          </a:xfrm>
          <a:prstGeom prst="ellipse">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85769" y="3493008"/>
            <a:ext cx="731520" cy="155448"/>
          </a:xfrm>
          <a:prstGeom prst="rect">
            <a:avLst/>
          </a:prstGeom>
          <a:noFill/>
        </p:spPr>
        <p:txBody>
          <a:bodyPr wrap="square" lIns="0" rIns="0" tIns="0" bIns="0" anchor="t">
            <a:spAutoFit/>
          </a:bodyPr>
          <a:lstStyle/>
          <a:p>
            <a:pPr algn="ctr"/>
            <a:r>
              <a:rPr sz="850" b="0">
                <a:solidFill>
                  <a:srgbClr val="CBD5E1"/>
                </a:solidFill>
                <a:latin typeface="Aptos"/>
              </a:rPr>
              <a:t>Intent</a:t>
            </a:r>
          </a:p>
        </p:txBody>
      </p:sp>
      <p:sp>
        <p:nvSpPr>
          <p:cNvPr id="16" name="Oval 15"/>
          <p:cNvSpPr/>
          <p:nvPr/>
        </p:nvSpPr>
        <p:spPr>
          <a:xfrm>
            <a:off x="5648248" y="3113532"/>
            <a:ext cx="192024" cy="192024"/>
          </a:xfrm>
          <a:prstGeom prst="ellipse">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78500" y="3493008"/>
            <a:ext cx="731520" cy="155448"/>
          </a:xfrm>
          <a:prstGeom prst="rect">
            <a:avLst/>
          </a:prstGeom>
          <a:noFill/>
        </p:spPr>
        <p:txBody>
          <a:bodyPr wrap="square" lIns="0" rIns="0" tIns="0" bIns="0" anchor="t">
            <a:spAutoFit/>
          </a:bodyPr>
          <a:lstStyle/>
          <a:p>
            <a:pPr algn="ctr"/>
            <a:r>
              <a:rPr sz="850" b="0">
                <a:solidFill>
                  <a:srgbClr val="CBD5E1"/>
                </a:solidFill>
                <a:latin typeface="Aptos"/>
              </a:rPr>
              <a:t>Risk</a:t>
            </a:r>
          </a:p>
        </p:txBody>
      </p:sp>
      <p:sp>
        <p:nvSpPr>
          <p:cNvPr id="18" name="Oval 17"/>
          <p:cNvSpPr/>
          <p:nvPr/>
        </p:nvSpPr>
        <p:spPr>
          <a:xfrm>
            <a:off x="7840980" y="3113532"/>
            <a:ext cx="192024" cy="192024"/>
          </a:xfrm>
          <a:prstGeom prst="ellipse">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71232" y="3493008"/>
            <a:ext cx="731520" cy="155448"/>
          </a:xfrm>
          <a:prstGeom prst="rect">
            <a:avLst/>
          </a:prstGeom>
          <a:noFill/>
        </p:spPr>
        <p:txBody>
          <a:bodyPr wrap="square" lIns="0" rIns="0" tIns="0" bIns="0" anchor="t">
            <a:spAutoFit/>
          </a:bodyPr>
          <a:lstStyle/>
          <a:p>
            <a:pPr algn="ctr"/>
            <a:r>
              <a:rPr sz="850" b="0">
                <a:solidFill>
                  <a:srgbClr val="CBD5E1"/>
                </a:solidFill>
                <a:latin typeface="Aptos"/>
              </a:rPr>
              <a:t>Cue</a:t>
            </a:r>
          </a:p>
        </p:txBody>
      </p:sp>
      <p:sp>
        <p:nvSpPr>
          <p:cNvPr id="20" name="Oval 19"/>
          <p:cNvSpPr/>
          <p:nvPr/>
        </p:nvSpPr>
        <p:spPr>
          <a:xfrm>
            <a:off x="10831068" y="3113532"/>
            <a:ext cx="192024" cy="192024"/>
          </a:xfrm>
          <a:prstGeom prst="ellipse">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61320" y="3493008"/>
            <a:ext cx="731520" cy="155448"/>
          </a:xfrm>
          <a:prstGeom prst="rect">
            <a:avLst/>
          </a:prstGeom>
          <a:noFill/>
        </p:spPr>
        <p:txBody>
          <a:bodyPr wrap="square" lIns="0" rIns="0" tIns="0" bIns="0" anchor="t">
            <a:spAutoFit/>
          </a:bodyPr>
          <a:lstStyle/>
          <a:p>
            <a:pPr algn="ctr"/>
            <a:r>
              <a:rPr sz="850" b="0">
                <a:solidFill>
                  <a:srgbClr val="CBD5E1"/>
                </a:solidFill>
                <a:latin typeface="Aptos"/>
              </a:rPr>
              <a:t>Action</a:t>
            </a:r>
          </a:p>
        </p:txBody>
      </p:sp>
      <p:sp>
        <p:nvSpPr>
          <p:cNvPr id="22" name="TextBox 21"/>
          <p:cNvSpPr txBox="1"/>
          <p:nvPr/>
        </p:nvSpPr>
        <p:spPr>
          <a:xfrm>
            <a:off x="4956048" y="4160520"/>
            <a:ext cx="2286000" cy="457200"/>
          </a:xfrm>
          <a:prstGeom prst="rect">
            <a:avLst/>
          </a:prstGeom>
          <a:noFill/>
        </p:spPr>
        <p:txBody>
          <a:bodyPr wrap="square" lIns="0" rIns="0" tIns="0" bIns="0" anchor="t">
            <a:spAutoFit/>
          </a:bodyPr>
          <a:lstStyle/>
          <a:p>
            <a:pPr algn="ctr"/>
            <a:r>
              <a:rPr sz="3500" b="1">
                <a:solidFill>
                  <a:srgbClr val="65FFAF"/>
                </a:solidFill>
                <a:latin typeface="Aptos"/>
              </a:rPr>
              <a:t>&lt;100ms</a:t>
            </a:r>
          </a:p>
        </p:txBody>
      </p:sp>
      <p:sp>
        <p:nvSpPr>
          <p:cNvPr id="23" name="TextBox 22"/>
          <p:cNvSpPr txBox="1"/>
          <p:nvPr/>
        </p:nvSpPr>
        <p:spPr>
          <a:xfrm>
            <a:off x="4069080" y="4663440"/>
            <a:ext cx="4114800" cy="228600"/>
          </a:xfrm>
          <a:prstGeom prst="rect">
            <a:avLst/>
          </a:prstGeom>
          <a:noFill/>
        </p:spPr>
        <p:txBody>
          <a:bodyPr wrap="square" lIns="0" rIns="0" tIns="0" bIns="0" anchor="t">
            <a:spAutoFit/>
          </a:bodyPr>
          <a:lstStyle/>
          <a:p>
            <a:pPr algn="ctr"/>
            <a:r>
              <a:rPr sz="1200" b="0">
                <a:solidFill>
                  <a:srgbClr val="F8FAFC"/>
                </a:solidFill>
                <a:latin typeface="Aptos"/>
              </a:rPr>
              <a:t>fast enough to influence the next sentence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ii-bg-plain.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58368" y="347472"/>
            <a:ext cx="292608" cy="292608"/>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06908"/>
            <a:ext cx="292608" cy="109728"/>
          </a:xfrm>
          <a:prstGeom prst="rect">
            <a:avLst/>
          </a:prstGeom>
          <a:noFill/>
        </p:spPr>
        <p:txBody>
          <a:bodyPr wrap="square" lIns="0" rIns="0" tIns="0" bIns="0" anchor="t">
            <a:spAutoFit/>
          </a:bodyPr>
          <a:lstStyle/>
          <a:p>
            <a:pPr algn="ctr"/>
            <a:r>
              <a:rPr sz="1000" b="1">
                <a:solidFill>
                  <a:srgbClr val="050B16"/>
                </a:solidFill>
                <a:latin typeface="Aptos"/>
              </a:rPr>
              <a:t>R</a:t>
            </a:r>
          </a:p>
        </p:txBody>
      </p:sp>
      <p:sp>
        <p:nvSpPr>
          <p:cNvPr id="5" name="TextBox 4"/>
          <p:cNvSpPr txBox="1"/>
          <p:nvPr/>
        </p:nvSpPr>
        <p:spPr>
          <a:xfrm>
            <a:off x="1042416" y="356616"/>
            <a:ext cx="1005840" cy="219456"/>
          </a:xfrm>
          <a:prstGeom prst="rect">
            <a:avLst/>
          </a:prstGeom>
          <a:noFill/>
        </p:spPr>
        <p:txBody>
          <a:bodyPr wrap="square" lIns="0" rIns="0" tIns="0" bIns="0" anchor="t">
            <a:spAutoFit/>
          </a:bodyPr>
          <a:lstStyle/>
          <a:p>
            <a:pPr algn="l"/>
            <a:r>
              <a:rPr sz="1500" b="1">
                <a:solidFill>
                  <a:srgbClr val="F8FAFC"/>
                </a:solidFill>
                <a:latin typeface="Aptos"/>
              </a:rPr>
              <a:t>replii</a:t>
            </a:r>
          </a:p>
        </p:txBody>
      </p:sp>
      <p:sp>
        <p:nvSpPr>
          <p:cNvPr id="6" name="TextBox 5"/>
          <p:cNvSpPr txBox="1"/>
          <p:nvPr/>
        </p:nvSpPr>
        <p:spPr>
          <a:xfrm>
            <a:off x="658368" y="6345936"/>
            <a:ext cx="2834640" cy="137160"/>
          </a:xfrm>
          <a:prstGeom prst="rect">
            <a:avLst/>
          </a:prstGeom>
          <a:noFill/>
        </p:spPr>
        <p:txBody>
          <a:bodyPr wrap="square" lIns="0" rIns="0" tIns="0" bIns="0" anchor="t">
            <a:spAutoFit/>
          </a:bodyPr>
          <a:lstStyle/>
          <a:p>
            <a:pPr algn="l"/>
            <a:r>
              <a:rPr sz="750" b="0">
                <a:solidFill>
                  <a:srgbClr val="A4B1C3"/>
                </a:solidFill>
                <a:latin typeface="Aptos"/>
              </a:rPr>
              <a:t>Confidential | Replii investor discussion</a:t>
            </a:r>
          </a:p>
        </p:txBody>
      </p:sp>
      <p:sp>
        <p:nvSpPr>
          <p:cNvPr id="7" name="TextBox 6"/>
          <p:cNvSpPr txBox="1"/>
          <p:nvPr/>
        </p:nvSpPr>
        <p:spPr>
          <a:xfrm>
            <a:off x="11155680" y="6345936"/>
            <a:ext cx="320040" cy="146304"/>
          </a:xfrm>
          <a:prstGeom prst="rect">
            <a:avLst/>
          </a:prstGeom>
          <a:noFill/>
        </p:spPr>
        <p:txBody>
          <a:bodyPr wrap="square" lIns="0" rIns="0" tIns="0" bIns="0" anchor="t">
            <a:spAutoFit/>
          </a:bodyPr>
          <a:lstStyle/>
          <a:p>
            <a:pPr algn="r"/>
            <a:r>
              <a:rPr sz="750" b="0">
                <a:solidFill>
                  <a:srgbClr val="A4B1C3"/>
                </a:solidFill>
                <a:latin typeface="Aptos"/>
              </a:rPr>
              <a:t>7</a:t>
            </a:r>
          </a:p>
        </p:txBody>
      </p:sp>
      <p:sp>
        <p:nvSpPr>
          <p:cNvPr id="8" name="TextBox 7"/>
          <p:cNvSpPr txBox="1"/>
          <p:nvPr/>
        </p:nvSpPr>
        <p:spPr>
          <a:xfrm>
            <a:off x="658368" y="1170432"/>
            <a:ext cx="3017520" cy="228600"/>
          </a:xfrm>
          <a:prstGeom prst="rect">
            <a:avLst/>
          </a:prstGeom>
          <a:noFill/>
        </p:spPr>
        <p:txBody>
          <a:bodyPr wrap="square" lIns="0" rIns="0" tIns="0" bIns="0" anchor="t">
            <a:spAutoFit/>
          </a:bodyPr>
          <a:lstStyle/>
          <a:p>
            <a:pPr algn="l"/>
            <a:r>
              <a:rPr sz="1230" b="1">
                <a:solidFill>
                  <a:srgbClr val="F8FAFC"/>
                </a:solidFill>
                <a:latin typeface="Aptos"/>
              </a:rPr>
              <a:t>Wrong entry point</a:t>
            </a:r>
          </a:p>
        </p:txBody>
      </p:sp>
      <p:sp>
        <p:nvSpPr>
          <p:cNvPr id="9" name="Rounded Rectangle 8"/>
          <p:cNvSpPr/>
          <p:nvPr/>
        </p:nvSpPr>
        <p:spPr>
          <a:xfrm>
            <a:off x="658368" y="1623060"/>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623060"/>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1" name="TextBox 10"/>
          <p:cNvSpPr txBox="1"/>
          <p:nvPr/>
        </p:nvSpPr>
        <p:spPr>
          <a:xfrm>
            <a:off x="896112" y="1604772"/>
            <a:ext cx="3008376" cy="329184"/>
          </a:xfrm>
          <a:prstGeom prst="rect">
            <a:avLst/>
          </a:prstGeom>
          <a:noFill/>
        </p:spPr>
        <p:txBody>
          <a:bodyPr wrap="square" lIns="0" rIns="0" tIns="0" bIns="0" anchor="t">
            <a:spAutoFit/>
          </a:bodyPr>
          <a:lstStyle/>
          <a:p>
            <a:pPr algn="l"/>
            <a:r>
              <a:rPr sz="860" b="0">
                <a:solidFill>
                  <a:srgbClr val="CBD5E1"/>
                </a:solidFill>
                <a:latin typeface="Aptos"/>
              </a:rPr>
              <a:t>Individual reps do not control meaningful budget.</a:t>
            </a:r>
          </a:p>
        </p:txBody>
      </p:sp>
      <p:sp>
        <p:nvSpPr>
          <p:cNvPr id="12" name="Rounded Rectangle 11"/>
          <p:cNvSpPr/>
          <p:nvPr/>
        </p:nvSpPr>
        <p:spPr>
          <a:xfrm>
            <a:off x="658368" y="229057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29057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4" name="TextBox 13"/>
          <p:cNvSpPr txBox="1"/>
          <p:nvPr/>
        </p:nvSpPr>
        <p:spPr>
          <a:xfrm>
            <a:off x="896112" y="2272284"/>
            <a:ext cx="3008376" cy="329184"/>
          </a:xfrm>
          <a:prstGeom prst="rect">
            <a:avLst/>
          </a:prstGeom>
          <a:noFill/>
        </p:spPr>
        <p:txBody>
          <a:bodyPr wrap="square" lIns="0" rIns="0" tIns="0" bIns="0" anchor="t">
            <a:spAutoFit/>
          </a:bodyPr>
          <a:lstStyle/>
          <a:p>
            <a:pPr algn="l"/>
            <a:r>
              <a:rPr sz="860" b="0">
                <a:solidFill>
                  <a:srgbClr val="CBD5E1"/>
                </a:solidFill>
                <a:latin typeface="Aptos"/>
              </a:rPr>
              <a:t>Rep-led adoption creates low ACV and high churn.</a:t>
            </a:r>
          </a:p>
        </p:txBody>
      </p:sp>
      <p:sp>
        <p:nvSpPr>
          <p:cNvPr id="15" name="Rounded Rectangle 14"/>
          <p:cNvSpPr/>
          <p:nvPr/>
        </p:nvSpPr>
        <p:spPr>
          <a:xfrm>
            <a:off x="658368" y="2958084"/>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2958084"/>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7" name="TextBox 16"/>
          <p:cNvSpPr txBox="1"/>
          <p:nvPr/>
        </p:nvSpPr>
        <p:spPr>
          <a:xfrm>
            <a:off x="896112" y="2939796"/>
            <a:ext cx="3008376" cy="329184"/>
          </a:xfrm>
          <a:prstGeom prst="rect">
            <a:avLst/>
          </a:prstGeom>
          <a:noFill/>
        </p:spPr>
        <p:txBody>
          <a:bodyPr wrap="square" lIns="0" rIns="0" tIns="0" bIns="0" anchor="t">
            <a:spAutoFit/>
          </a:bodyPr>
          <a:lstStyle/>
          <a:p>
            <a:pPr algn="l"/>
            <a:r>
              <a:rPr sz="860" b="0">
                <a:solidFill>
                  <a:srgbClr val="CBD5E1"/>
                </a:solidFill>
                <a:latin typeface="Aptos"/>
              </a:rPr>
              <a:t>Anything that feels like surveillance faces resistance.</a:t>
            </a:r>
          </a:p>
        </p:txBody>
      </p:sp>
      <p:sp>
        <p:nvSpPr>
          <p:cNvPr id="18" name="Rounded Rectangle 17"/>
          <p:cNvSpPr/>
          <p:nvPr/>
        </p:nvSpPr>
        <p:spPr>
          <a:xfrm>
            <a:off x="658368" y="3625596"/>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3625596"/>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0" name="TextBox 19"/>
          <p:cNvSpPr txBox="1"/>
          <p:nvPr/>
        </p:nvSpPr>
        <p:spPr>
          <a:xfrm>
            <a:off x="896112" y="3607308"/>
            <a:ext cx="3008376" cy="329184"/>
          </a:xfrm>
          <a:prstGeom prst="rect">
            <a:avLst/>
          </a:prstGeom>
          <a:noFill/>
        </p:spPr>
        <p:txBody>
          <a:bodyPr wrap="square" lIns="0" rIns="0" tIns="0" bIns="0" anchor="t">
            <a:spAutoFit/>
          </a:bodyPr>
          <a:lstStyle/>
          <a:p>
            <a:pPr algn="l"/>
            <a:r>
              <a:rPr sz="860" b="0">
                <a:solidFill>
                  <a:srgbClr val="CBD5E1"/>
                </a:solidFill>
                <a:latin typeface="Aptos"/>
              </a:rPr>
              <a:t>Generic “sales coaching” positioning invites Gong comparisons.</a:t>
            </a:r>
          </a:p>
        </p:txBody>
      </p:sp>
      <p:sp>
        <p:nvSpPr>
          <p:cNvPr id="21" name="Rectangle 20"/>
          <p:cNvSpPr/>
          <p:nvPr/>
        </p:nvSpPr>
        <p:spPr>
          <a:xfrm>
            <a:off x="4059936" y="1097280"/>
            <a:ext cx="10972" cy="4983480"/>
          </a:xfrm>
          <a:prstGeom prst="rect">
            <a:avLst/>
          </a:prstGeom>
          <a:solidFill>
            <a:srgbClr val="5F6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7408" y="1170432"/>
            <a:ext cx="3017520" cy="228600"/>
          </a:xfrm>
          <a:prstGeom prst="rect">
            <a:avLst/>
          </a:prstGeom>
          <a:noFill/>
        </p:spPr>
        <p:txBody>
          <a:bodyPr wrap="square" lIns="0" rIns="0" tIns="0" bIns="0" anchor="t">
            <a:spAutoFit/>
          </a:bodyPr>
          <a:lstStyle/>
          <a:p>
            <a:pPr algn="l"/>
            <a:r>
              <a:rPr sz="1230" b="1">
                <a:solidFill>
                  <a:srgbClr val="F8FAFC"/>
                </a:solidFill>
                <a:latin typeface="Aptos"/>
              </a:rPr>
              <a:t>Right first buyer</a:t>
            </a:r>
          </a:p>
        </p:txBody>
      </p:sp>
      <p:sp>
        <p:nvSpPr>
          <p:cNvPr id="23" name="Rounded Rectangle 22"/>
          <p:cNvSpPr/>
          <p:nvPr/>
        </p:nvSpPr>
        <p:spPr>
          <a:xfrm>
            <a:off x="4407408" y="1623060"/>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25696" y="1623060"/>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5" name="TextBox 24"/>
          <p:cNvSpPr txBox="1"/>
          <p:nvPr/>
        </p:nvSpPr>
        <p:spPr>
          <a:xfrm>
            <a:off x="4645152" y="1604772"/>
            <a:ext cx="3008376" cy="329184"/>
          </a:xfrm>
          <a:prstGeom prst="rect">
            <a:avLst/>
          </a:prstGeom>
          <a:noFill/>
        </p:spPr>
        <p:txBody>
          <a:bodyPr wrap="square" lIns="0" rIns="0" tIns="0" bIns="0" anchor="t">
            <a:spAutoFit/>
          </a:bodyPr>
          <a:lstStyle/>
          <a:p>
            <a:pPr algn="l"/>
            <a:r>
              <a:rPr sz="860" b="0">
                <a:solidFill>
                  <a:srgbClr val="CBD5E1"/>
                </a:solidFill>
                <a:latin typeface="Aptos"/>
              </a:rPr>
              <a:t>VP Sales / CRO at 50-500 person companies.</a:t>
            </a:r>
          </a:p>
        </p:txBody>
      </p:sp>
      <p:sp>
        <p:nvSpPr>
          <p:cNvPr id="26" name="Rounded Rectangle 25"/>
          <p:cNvSpPr/>
          <p:nvPr/>
        </p:nvSpPr>
        <p:spPr>
          <a:xfrm>
            <a:off x="4407408" y="229057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5696" y="229057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8" name="TextBox 27"/>
          <p:cNvSpPr txBox="1"/>
          <p:nvPr/>
        </p:nvSpPr>
        <p:spPr>
          <a:xfrm>
            <a:off x="4645152" y="2272284"/>
            <a:ext cx="3008376" cy="329184"/>
          </a:xfrm>
          <a:prstGeom prst="rect">
            <a:avLst/>
          </a:prstGeom>
          <a:noFill/>
        </p:spPr>
        <p:txBody>
          <a:bodyPr wrap="square" lIns="0" rIns="0" tIns="0" bIns="0" anchor="t">
            <a:spAutoFit/>
          </a:bodyPr>
          <a:lstStyle/>
          <a:p>
            <a:pPr algn="l"/>
            <a:r>
              <a:rPr sz="860" b="0">
                <a:solidFill>
                  <a:srgbClr val="CBD5E1"/>
                </a:solidFill>
                <a:latin typeface="Aptos"/>
              </a:rPr>
              <a:t>20-100 reps with clear quota pressure.</a:t>
            </a:r>
          </a:p>
        </p:txBody>
      </p:sp>
      <p:sp>
        <p:nvSpPr>
          <p:cNvPr id="29" name="Rounded Rectangle 28"/>
          <p:cNvSpPr/>
          <p:nvPr/>
        </p:nvSpPr>
        <p:spPr>
          <a:xfrm>
            <a:off x="4407408" y="2958084"/>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25696" y="2958084"/>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1" name="TextBox 30"/>
          <p:cNvSpPr txBox="1"/>
          <p:nvPr/>
        </p:nvSpPr>
        <p:spPr>
          <a:xfrm>
            <a:off x="4645152" y="2939796"/>
            <a:ext cx="3008376" cy="329184"/>
          </a:xfrm>
          <a:prstGeom prst="rect">
            <a:avLst/>
          </a:prstGeom>
          <a:noFill/>
        </p:spPr>
        <p:txBody>
          <a:bodyPr wrap="square" lIns="0" rIns="0" tIns="0" bIns="0" anchor="t">
            <a:spAutoFit/>
          </a:bodyPr>
          <a:lstStyle/>
          <a:p>
            <a:pPr algn="l"/>
            <a:r>
              <a:rPr sz="860" b="0">
                <a:solidFill>
                  <a:srgbClr val="CBD5E1"/>
                </a:solidFill>
                <a:latin typeface="Aptos"/>
              </a:rPr>
              <a:t>Pays for win-rate, conversion and ramp-time improvement.</a:t>
            </a:r>
          </a:p>
        </p:txBody>
      </p:sp>
      <p:sp>
        <p:nvSpPr>
          <p:cNvPr id="32" name="Rounded Rectangle 31"/>
          <p:cNvSpPr/>
          <p:nvPr/>
        </p:nvSpPr>
        <p:spPr>
          <a:xfrm>
            <a:off x="4407408" y="3625596"/>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25696" y="3625596"/>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4" name="TextBox 33"/>
          <p:cNvSpPr txBox="1"/>
          <p:nvPr/>
        </p:nvSpPr>
        <p:spPr>
          <a:xfrm>
            <a:off x="4645152" y="3607308"/>
            <a:ext cx="3008376" cy="329184"/>
          </a:xfrm>
          <a:prstGeom prst="rect">
            <a:avLst/>
          </a:prstGeom>
          <a:noFill/>
        </p:spPr>
        <p:txBody>
          <a:bodyPr wrap="square" lIns="0" rIns="0" tIns="0" bIns="0" anchor="t">
            <a:spAutoFit/>
          </a:bodyPr>
          <a:lstStyle/>
          <a:p>
            <a:pPr algn="l"/>
            <a:r>
              <a:rPr sz="860" b="0">
                <a:solidFill>
                  <a:srgbClr val="CBD5E1"/>
                </a:solidFill>
                <a:latin typeface="Aptos"/>
              </a:rPr>
              <a:t>Target ACV: GBP 24k-60k per customer.</a:t>
            </a:r>
          </a:p>
        </p:txBody>
      </p:sp>
      <p:sp>
        <p:nvSpPr>
          <p:cNvPr id="35" name="Rectangle 34"/>
          <p:cNvSpPr/>
          <p:nvPr/>
        </p:nvSpPr>
        <p:spPr>
          <a:xfrm>
            <a:off x="7808976" y="1097280"/>
            <a:ext cx="10972" cy="4983480"/>
          </a:xfrm>
          <a:prstGeom prst="rect">
            <a:avLst/>
          </a:prstGeom>
          <a:solidFill>
            <a:srgbClr val="5F6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56448" y="1170432"/>
            <a:ext cx="3017520" cy="228600"/>
          </a:xfrm>
          <a:prstGeom prst="rect">
            <a:avLst/>
          </a:prstGeom>
          <a:noFill/>
        </p:spPr>
        <p:txBody>
          <a:bodyPr wrap="square" lIns="0" rIns="0" tIns="0" bIns="0" anchor="t">
            <a:spAutoFit/>
          </a:bodyPr>
          <a:lstStyle/>
          <a:p>
            <a:pPr algn="l"/>
            <a:r>
              <a:rPr sz="1230" b="1">
                <a:solidFill>
                  <a:srgbClr val="F8FAFC"/>
                </a:solidFill>
                <a:latin typeface="Aptos"/>
              </a:rPr>
              <a:t>First 10 customers</a:t>
            </a:r>
          </a:p>
        </p:txBody>
      </p:sp>
      <p:sp>
        <p:nvSpPr>
          <p:cNvPr id="37" name="Rounded Rectangle 36"/>
          <p:cNvSpPr/>
          <p:nvPr/>
        </p:nvSpPr>
        <p:spPr>
          <a:xfrm>
            <a:off x="8156448" y="1623060"/>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74736" y="1623060"/>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9" name="TextBox 38"/>
          <p:cNvSpPr txBox="1"/>
          <p:nvPr/>
        </p:nvSpPr>
        <p:spPr>
          <a:xfrm>
            <a:off x="8394192" y="1604772"/>
            <a:ext cx="3008376" cy="329184"/>
          </a:xfrm>
          <a:prstGeom prst="rect">
            <a:avLst/>
          </a:prstGeom>
          <a:noFill/>
        </p:spPr>
        <p:txBody>
          <a:bodyPr wrap="square" lIns="0" rIns="0" tIns="0" bIns="0" anchor="t">
            <a:spAutoFit/>
          </a:bodyPr>
          <a:lstStyle/>
          <a:p>
            <a:pPr algn="l"/>
            <a:r>
              <a:rPr sz="860" b="0">
                <a:solidFill>
                  <a:srgbClr val="CBD5E1"/>
                </a:solidFill>
                <a:latin typeface="Aptos"/>
              </a:rPr>
              <a:t>UK SaaS and financial-services sales teams.</a:t>
            </a:r>
          </a:p>
        </p:txBody>
      </p:sp>
      <p:sp>
        <p:nvSpPr>
          <p:cNvPr id="40" name="Rounded Rectangle 39"/>
          <p:cNvSpPr/>
          <p:nvPr/>
        </p:nvSpPr>
        <p:spPr>
          <a:xfrm>
            <a:off x="8156448" y="229057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74736" y="229057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42" name="TextBox 41"/>
          <p:cNvSpPr txBox="1"/>
          <p:nvPr/>
        </p:nvSpPr>
        <p:spPr>
          <a:xfrm>
            <a:off x="8394192" y="2272284"/>
            <a:ext cx="3008376" cy="329184"/>
          </a:xfrm>
          <a:prstGeom prst="rect">
            <a:avLst/>
          </a:prstGeom>
          <a:noFill/>
        </p:spPr>
        <p:txBody>
          <a:bodyPr wrap="square" lIns="0" rIns="0" tIns="0" bIns="0" anchor="t">
            <a:spAutoFit/>
          </a:bodyPr>
          <a:lstStyle/>
          <a:p>
            <a:pPr algn="l"/>
            <a:r>
              <a:rPr sz="860" b="0">
                <a:solidFill>
                  <a:srgbClr val="CBD5E1"/>
                </a:solidFill>
                <a:latin typeface="Aptos"/>
              </a:rPr>
              <a:t>30-day pilots on real calls with 10-20 users.</a:t>
            </a:r>
          </a:p>
        </p:txBody>
      </p:sp>
      <p:sp>
        <p:nvSpPr>
          <p:cNvPr id="43" name="Rounded Rectangle 42"/>
          <p:cNvSpPr/>
          <p:nvPr/>
        </p:nvSpPr>
        <p:spPr>
          <a:xfrm>
            <a:off x="8156448" y="2958084"/>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74736" y="2958084"/>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45" name="TextBox 44"/>
          <p:cNvSpPr txBox="1"/>
          <p:nvPr/>
        </p:nvSpPr>
        <p:spPr>
          <a:xfrm>
            <a:off x="8394192" y="2939796"/>
            <a:ext cx="3008376" cy="329184"/>
          </a:xfrm>
          <a:prstGeom prst="rect">
            <a:avLst/>
          </a:prstGeom>
          <a:noFill/>
        </p:spPr>
        <p:txBody>
          <a:bodyPr wrap="square" lIns="0" rIns="0" tIns="0" bIns="0" anchor="t">
            <a:spAutoFit/>
          </a:bodyPr>
          <a:lstStyle/>
          <a:p>
            <a:pPr algn="l"/>
            <a:r>
              <a:rPr sz="860" b="0">
                <a:solidFill>
                  <a:srgbClr val="CBD5E1"/>
                </a:solidFill>
                <a:latin typeface="Aptos"/>
              </a:rPr>
              <a:t>Measure objection handling, conversion and win rate.</a:t>
            </a:r>
          </a:p>
        </p:txBody>
      </p:sp>
      <p:sp>
        <p:nvSpPr>
          <p:cNvPr id="46" name="Rounded Rectangle 45"/>
          <p:cNvSpPr/>
          <p:nvPr/>
        </p:nvSpPr>
        <p:spPr>
          <a:xfrm>
            <a:off x="8156448" y="3625596"/>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74736" y="3625596"/>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48" name="TextBox 47"/>
          <p:cNvSpPr txBox="1"/>
          <p:nvPr/>
        </p:nvSpPr>
        <p:spPr>
          <a:xfrm>
            <a:off x="8394192" y="3607308"/>
            <a:ext cx="3008376" cy="329184"/>
          </a:xfrm>
          <a:prstGeom prst="rect">
            <a:avLst/>
          </a:prstGeom>
          <a:noFill/>
        </p:spPr>
        <p:txBody>
          <a:bodyPr wrap="square" lIns="0" rIns="0" tIns="0" bIns="0" anchor="t">
            <a:spAutoFit/>
          </a:bodyPr>
          <a:lstStyle/>
          <a:p>
            <a:pPr algn="l"/>
            <a:r>
              <a:rPr sz="860" b="0">
                <a:solidFill>
                  <a:srgbClr val="CBD5E1"/>
                </a:solidFill>
                <a:latin typeface="Aptos"/>
              </a:rPr>
              <a:t>Convert 1-2 customers who would be devastated without Replii.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ii-bg-al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58368" y="347472"/>
            <a:ext cx="292608" cy="292608"/>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06908"/>
            <a:ext cx="292608" cy="109728"/>
          </a:xfrm>
          <a:prstGeom prst="rect">
            <a:avLst/>
          </a:prstGeom>
          <a:noFill/>
        </p:spPr>
        <p:txBody>
          <a:bodyPr wrap="square" lIns="0" rIns="0" tIns="0" bIns="0" anchor="t">
            <a:spAutoFit/>
          </a:bodyPr>
          <a:lstStyle/>
          <a:p>
            <a:pPr algn="ctr"/>
            <a:r>
              <a:rPr sz="1000" b="1">
                <a:solidFill>
                  <a:srgbClr val="050B16"/>
                </a:solidFill>
                <a:latin typeface="Aptos"/>
              </a:rPr>
              <a:t>R</a:t>
            </a:r>
          </a:p>
        </p:txBody>
      </p:sp>
      <p:sp>
        <p:nvSpPr>
          <p:cNvPr id="5" name="TextBox 4"/>
          <p:cNvSpPr txBox="1"/>
          <p:nvPr/>
        </p:nvSpPr>
        <p:spPr>
          <a:xfrm>
            <a:off x="1042416" y="356616"/>
            <a:ext cx="1005840" cy="219456"/>
          </a:xfrm>
          <a:prstGeom prst="rect">
            <a:avLst/>
          </a:prstGeom>
          <a:noFill/>
        </p:spPr>
        <p:txBody>
          <a:bodyPr wrap="square" lIns="0" rIns="0" tIns="0" bIns="0" anchor="t">
            <a:spAutoFit/>
          </a:bodyPr>
          <a:lstStyle/>
          <a:p>
            <a:pPr algn="l"/>
            <a:r>
              <a:rPr sz="1500" b="1">
                <a:solidFill>
                  <a:srgbClr val="F8FAFC"/>
                </a:solidFill>
                <a:latin typeface="Aptos"/>
              </a:rPr>
              <a:t>replii</a:t>
            </a:r>
          </a:p>
        </p:txBody>
      </p:sp>
      <p:sp>
        <p:nvSpPr>
          <p:cNvPr id="6" name="TextBox 5"/>
          <p:cNvSpPr txBox="1"/>
          <p:nvPr/>
        </p:nvSpPr>
        <p:spPr>
          <a:xfrm>
            <a:off x="658368" y="6345936"/>
            <a:ext cx="2834640" cy="137160"/>
          </a:xfrm>
          <a:prstGeom prst="rect">
            <a:avLst/>
          </a:prstGeom>
          <a:noFill/>
        </p:spPr>
        <p:txBody>
          <a:bodyPr wrap="square" lIns="0" rIns="0" tIns="0" bIns="0" anchor="t">
            <a:spAutoFit/>
          </a:bodyPr>
          <a:lstStyle/>
          <a:p>
            <a:pPr algn="l"/>
            <a:r>
              <a:rPr sz="750" b="0">
                <a:solidFill>
                  <a:srgbClr val="A4B1C3"/>
                </a:solidFill>
                <a:latin typeface="Aptos"/>
              </a:rPr>
              <a:t>Confidential | Replii investor discussion</a:t>
            </a:r>
          </a:p>
        </p:txBody>
      </p:sp>
      <p:sp>
        <p:nvSpPr>
          <p:cNvPr id="7" name="TextBox 6"/>
          <p:cNvSpPr txBox="1"/>
          <p:nvPr/>
        </p:nvSpPr>
        <p:spPr>
          <a:xfrm>
            <a:off x="11155680" y="6345936"/>
            <a:ext cx="320040" cy="146304"/>
          </a:xfrm>
          <a:prstGeom prst="rect">
            <a:avLst/>
          </a:prstGeom>
          <a:noFill/>
        </p:spPr>
        <p:txBody>
          <a:bodyPr wrap="square" lIns="0" rIns="0" tIns="0" bIns="0" anchor="t">
            <a:spAutoFit/>
          </a:bodyPr>
          <a:lstStyle/>
          <a:p>
            <a:pPr algn="r"/>
            <a:r>
              <a:rPr sz="750" b="0">
                <a:solidFill>
                  <a:srgbClr val="A4B1C3"/>
                </a:solidFill>
                <a:latin typeface="Aptos"/>
              </a:rPr>
              <a:t>8</a:t>
            </a:r>
          </a:p>
        </p:txBody>
      </p:sp>
      <p:sp>
        <p:nvSpPr>
          <p:cNvPr id="8" name="TextBox 7"/>
          <p:cNvSpPr txBox="1"/>
          <p:nvPr/>
        </p:nvSpPr>
        <p:spPr>
          <a:xfrm>
            <a:off x="658368" y="868680"/>
            <a:ext cx="3657600" cy="274320"/>
          </a:xfrm>
          <a:prstGeom prst="rect">
            <a:avLst/>
          </a:prstGeom>
          <a:noFill/>
        </p:spPr>
        <p:txBody>
          <a:bodyPr wrap="square" lIns="0" rIns="0" tIns="0" bIns="0" anchor="t">
            <a:spAutoFit/>
          </a:bodyPr>
          <a:lstStyle/>
          <a:p>
            <a:pPr algn="l"/>
            <a:r>
              <a:rPr sz="1500" b="1">
                <a:solidFill>
                  <a:srgbClr val="F8FAFC"/>
                </a:solidFill>
                <a:latin typeface="Aptos"/>
              </a:rPr>
              <a:t>Market expansion</a:t>
            </a:r>
          </a:p>
        </p:txBody>
      </p:sp>
      <p:sp>
        <p:nvSpPr>
          <p:cNvPr id="9" name="TextBox 8"/>
          <p:cNvSpPr txBox="1"/>
          <p:nvPr/>
        </p:nvSpPr>
        <p:spPr>
          <a:xfrm>
            <a:off x="658368" y="1234440"/>
            <a:ext cx="8869680" cy="914400"/>
          </a:xfrm>
          <a:prstGeom prst="rect">
            <a:avLst/>
          </a:prstGeom>
          <a:noFill/>
        </p:spPr>
        <p:txBody>
          <a:bodyPr wrap="square" lIns="0" rIns="0" tIns="0" bIns="0" anchor="t">
            <a:spAutoFit/>
          </a:bodyPr>
          <a:lstStyle/>
          <a:p>
            <a:pPr algn="l"/>
            <a:r>
              <a:rPr sz="3000" b="1">
                <a:solidFill>
                  <a:srgbClr val="F8FAFC"/>
                </a:solidFill>
                <a:latin typeface="Aptos"/>
              </a:rPr>
              <a:t>The billion-pound path runs through contact centres</a:t>
            </a:r>
          </a:p>
        </p:txBody>
      </p:sp>
      <p:sp>
        <p:nvSpPr>
          <p:cNvPr id="10" name="TextBox 9"/>
          <p:cNvSpPr txBox="1"/>
          <p:nvPr/>
        </p:nvSpPr>
        <p:spPr>
          <a:xfrm>
            <a:off x="658368" y="1938528"/>
            <a:ext cx="6583680" cy="457200"/>
          </a:xfrm>
          <a:prstGeom prst="rect">
            <a:avLst/>
          </a:prstGeom>
          <a:noFill/>
        </p:spPr>
        <p:txBody>
          <a:bodyPr wrap="square" lIns="0" rIns="0" tIns="0" bIns="0" anchor="t">
            <a:spAutoFit/>
          </a:bodyPr>
          <a:lstStyle/>
          <a:p>
            <a:pPr algn="l"/>
            <a:r>
              <a:rPr sz="1250" b="0">
                <a:solidFill>
                  <a:srgbClr val="CBD5E1"/>
                </a:solidFill>
                <a:latin typeface="Aptos"/>
              </a:rPr>
              <a:t>Sales proves the wedge. Regulated voice operations create the platform outcome.</a:t>
            </a:r>
          </a:p>
        </p:txBody>
      </p:sp>
      <p:sp>
        <p:nvSpPr>
          <p:cNvPr id="11" name="Rounded Rectangle 10"/>
          <p:cNvSpPr/>
          <p:nvPr/>
        </p:nvSpPr>
        <p:spPr>
          <a:xfrm>
            <a:off x="749808" y="2962656"/>
            <a:ext cx="2331720" cy="1115568"/>
          </a:xfrm>
          <a:prstGeom prst="roundRect">
            <a:avLst/>
          </a:prstGeom>
          <a:solidFill>
            <a:srgbClr val="0E1523"/>
          </a:solidFill>
          <a:ln w="10160">
            <a:solidFill>
              <a:srgbClr val="435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3200400"/>
            <a:ext cx="1920240" cy="228600"/>
          </a:xfrm>
          <a:prstGeom prst="rect">
            <a:avLst/>
          </a:prstGeom>
          <a:noFill/>
        </p:spPr>
        <p:txBody>
          <a:bodyPr wrap="square" lIns="0" rIns="0" tIns="0" bIns="0" anchor="t">
            <a:spAutoFit/>
          </a:bodyPr>
          <a:lstStyle/>
          <a:p>
            <a:pPr algn="l"/>
            <a:r>
              <a:rPr sz="1700" b="1">
                <a:solidFill>
                  <a:srgbClr val="65FFAF"/>
                </a:solidFill>
                <a:latin typeface="Aptos"/>
              </a:rPr>
              <a:t>4m</a:t>
            </a:r>
          </a:p>
        </p:txBody>
      </p:sp>
      <p:sp>
        <p:nvSpPr>
          <p:cNvPr id="13" name="TextBox 12"/>
          <p:cNvSpPr txBox="1"/>
          <p:nvPr/>
        </p:nvSpPr>
        <p:spPr>
          <a:xfrm>
            <a:off x="950976" y="3602736"/>
            <a:ext cx="1920240" cy="201168"/>
          </a:xfrm>
          <a:prstGeom prst="rect">
            <a:avLst/>
          </a:prstGeom>
          <a:noFill/>
        </p:spPr>
        <p:txBody>
          <a:bodyPr wrap="square" lIns="0" rIns="0" tIns="0" bIns="0" anchor="t">
            <a:spAutoFit/>
          </a:bodyPr>
          <a:lstStyle/>
          <a:p>
            <a:pPr algn="l"/>
            <a:r>
              <a:rPr sz="869" b="0">
                <a:solidFill>
                  <a:srgbClr val="A4B1C3"/>
                </a:solidFill>
                <a:latin typeface="Aptos"/>
              </a:rPr>
              <a:t>UK agents</a:t>
            </a:r>
          </a:p>
        </p:txBody>
      </p:sp>
      <p:sp>
        <p:nvSpPr>
          <p:cNvPr id="14" name="Rounded Rectangle 13"/>
          <p:cNvSpPr/>
          <p:nvPr/>
        </p:nvSpPr>
        <p:spPr>
          <a:xfrm>
            <a:off x="3566160" y="2962656"/>
            <a:ext cx="2331720" cy="1115568"/>
          </a:xfrm>
          <a:prstGeom prst="roundRect">
            <a:avLst/>
          </a:prstGeom>
          <a:solidFill>
            <a:srgbClr val="0E1523"/>
          </a:solidFill>
          <a:ln w="10160">
            <a:solidFill>
              <a:srgbClr val="435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7328" y="3200400"/>
            <a:ext cx="1920240" cy="228600"/>
          </a:xfrm>
          <a:prstGeom prst="rect">
            <a:avLst/>
          </a:prstGeom>
          <a:noFill/>
        </p:spPr>
        <p:txBody>
          <a:bodyPr wrap="square" lIns="0" rIns="0" tIns="0" bIns="0" anchor="t">
            <a:spAutoFit/>
          </a:bodyPr>
          <a:lstStyle/>
          <a:p>
            <a:pPr algn="l"/>
            <a:r>
              <a:rPr sz="1700" b="1">
                <a:solidFill>
                  <a:srgbClr val="65FFAF"/>
                </a:solidFill>
                <a:latin typeface="Aptos"/>
              </a:rPr>
              <a:t>15m</a:t>
            </a:r>
          </a:p>
        </p:txBody>
      </p:sp>
      <p:sp>
        <p:nvSpPr>
          <p:cNvPr id="16" name="TextBox 15"/>
          <p:cNvSpPr txBox="1"/>
          <p:nvPr/>
        </p:nvSpPr>
        <p:spPr>
          <a:xfrm>
            <a:off x="3767328" y="3602736"/>
            <a:ext cx="1920240" cy="201168"/>
          </a:xfrm>
          <a:prstGeom prst="rect">
            <a:avLst/>
          </a:prstGeom>
          <a:noFill/>
        </p:spPr>
        <p:txBody>
          <a:bodyPr wrap="square" lIns="0" rIns="0" tIns="0" bIns="0" anchor="t">
            <a:spAutoFit/>
          </a:bodyPr>
          <a:lstStyle/>
          <a:p>
            <a:pPr algn="l"/>
            <a:r>
              <a:rPr sz="869" b="0">
                <a:solidFill>
                  <a:srgbClr val="A4B1C3"/>
                </a:solidFill>
                <a:latin typeface="Aptos"/>
              </a:rPr>
              <a:t>US agents</a:t>
            </a:r>
          </a:p>
        </p:txBody>
      </p:sp>
      <p:sp>
        <p:nvSpPr>
          <p:cNvPr id="17" name="Rounded Rectangle 16"/>
          <p:cNvSpPr/>
          <p:nvPr/>
        </p:nvSpPr>
        <p:spPr>
          <a:xfrm>
            <a:off x="6382512" y="2962656"/>
            <a:ext cx="2331720" cy="1115568"/>
          </a:xfrm>
          <a:prstGeom prst="roundRect">
            <a:avLst/>
          </a:prstGeom>
          <a:solidFill>
            <a:srgbClr val="0E1523"/>
          </a:solidFill>
          <a:ln w="10160">
            <a:solidFill>
              <a:srgbClr val="435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3200400"/>
            <a:ext cx="1920240" cy="228600"/>
          </a:xfrm>
          <a:prstGeom prst="rect">
            <a:avLst/>
          </a:prstGeom>
          <a:noFill/>
        </p:spPr>
        <p:txBody>
          <a:bodyPr wrap="square" lIns="0" rIns="0" tIns="0" bIns="0" anchor="t">
            <a:spAutoFit/>
          </a:bodyPr>
          <a:lstStyle/>
          <a:p>
            <a:pPr algn="l"/>
            <a:r>
              <a:rPr sz="1700" b="1">
                <a:solidFill>
                  <a:srgbClr val="65FFAF"/>
                </a:solidFill>
                <a:latin typeface="Aptos"/>
              </a:rPr>
              <a:t>GBP 800-1,500</a:t>
            </a:r>
          </a:p>
        </p:txBody>
      </p:sp>
      <p:sp>
        <p:nvSpPr>
          <p:cNvPr id="19" name="TextBox 18"/>
          <p:cNvSpPr txBox="1"/>
          <p:nvPr/>
        </p:nvSpPr>
        <p:spPr>
          <a:xfrm>
            <a:off x="6583680" y="3602736"/>
            <a:ext cx="1920240" cy="201168"/>
          </a:xfrm>
          <a:prstGeom prst="rect">
            <a:avLst/>
          </a:prstGeom>
          <a:noFill/>
        </p:spPr>
        <p:txBody>
          <a:bodyPr wrap="square" lIns="0" rIns="0" tIns="0" bIns="0" anchor="t">
            <a:spAutoFit/>
          </a:bodyPr>
          <a:lstStyle/>
          <a:p>
            <a:pPr algn="l"/>
            <a:r>
              <a:rPr sz="869" b="0">
                <a:solidFill>
                  <a:srgbClr val="A4B1C3"/>
                </a:solidFill>
                <a:latin typeface="Aptos"/>
              </a:rPr>
              <a:t>annual software spend per agent</a:t>
            </a:r>
          </a:p>
        </p:txBody>
      </p:sp>
      <p:sp>
        <p:nvSpPr>
          <p:cNvPr id="20" name="Rounded Rectangle 19"/>
          <p:cNvSpPr/>
          <p:nvPr/>
        </p:nvSpPr>
        <p:spPr>
          <a:xfrm>
            <a:off x="9198864" y="2962656"/>
            <a:ext cx="2331720" cy="1115568"/>
          </a:xfrm>
          <a:prstGeom prst="roundRect">
            <a:avLst/>
          </a:prstGeom>
          <a:solidFill>
            <a:srgbClr val="0E1523"/>
          </a:solidFill>
          <a:ln w="10160">
            <a:solidFill>
              <a:srgbClr val="435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00032" y="3200400"/>
            <a:ext cx="1920240" cy="228600"/>
          </a:xfrm>
          <a:prstGeom prst="rect">
            <a:avLst/>
          </a:prstGeom>
          <a:noFill/>
        </p:spPr>
        <p:txBody>
          <a:bodyPr wrap="square" lIns="0" rIns="0" tIns="0" bIns="0" anchor="t">
            <a:spAutoFit/>
          </a:bodyPr>
          <a:lstStyle/>
          <a:p>
            <a:pPr algn="l"/>
            <a:r>
              <a:rPr sz="1700" b="1">
                <a:solidFill>
                  <a:srgbClr val="65FFAF"/>
                </a:solidFill>
                <a:latin typeface="Aptos"/>
              </a:rPr>
              <a:t>GBP 320m-600m</a:t>
            </a:r>
          </a:p>
        </p:txBody>
      </p:sp>
      <p:sp>
        <p:nvSpPr>
          <p:cNvPr id="22" name="TextBox 21"/>
          <p:cNvSpPr txBox="1"/>
          <p:nvPr/>
        </p:nvSpPr>
        <p:spPr>
          <a:xfrm>
            <a:off x="9400032" y="3602736"/>
            <a:ext cx="1920240" cy="201168"/>
          </a:xfrm>
          <a:prstGeom prst="rect">
            <a:avLst/>
          </a:prstGeom>
          <a:noFill/>
        </p:spPr>
        <p:txBody>
          <a:bodyPr wrap="square" lIns="0" rIns="0" tIns="0" bIns="0" anchor="t">
            <a:spAutoFit/>
          </a:bodyPr>
          <a:lstStyle/>
          <a:p>
            <a:pPr algn="l"/>
            <a:r>
              <a:rPr sz="869" b="0">
                <a:solidFill>
                  <a:srgbClr val="A4B1C3"/>
                </a:solidFill>
                <a:latin typeface="Aptos"/>
              </a:rPr>
              <a:t>ARR at 1% UK penetration</a:t>
            </a:r>
          </a:p>
        </p:txBody>
      </p:sp>
      <p:sp>
        <p:nvSpPr>
          <p:cNvPr id="23" name="TextBox 22"/>
          <p:cNvSpPr txBox="1"/>
          <p:nvPr/>
        </p:nvSpPr>
        <p:spPr>
          <a:xfrm>
            <a:off x="658368" y="4983480"/>
            <a:ext cx="9326880" cy="475488"/>
          </a:xfrm>
          <a:prstGeom prst="rect">
            <a:avLst/>
          </a:prstGeom>
          <a:noFill/>
        </p:spPr>
        <p:txBody>
          <a:bodyPr wrap="square" lIns="0" rIns="0" tIns="0" bIns="0" anchor="t">
            <a:spAutoFit/>
          </a:bodyPr>
          <a:lstStyle/>
          <a:p>
            <a:pPr algn="l"/>
            <a:r>
              <a:rPr sz="1500" b="0">
                <a:solidFill>
                  <a:srgbClr val="CBD5E1"/>
                </a:solidFill>
                <a:latin typeface="Aptos"/>
              </a:rPr>
              <a:t>The compliance use case is different: the value exists before the wrong sentence is spoken. That is why latency becomes the moat.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ii-bg-plain.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58368" y="347472"/>
            <a:ext cx="292608" cy="292608"/>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06908"/>
            <a:ext cx="292608" cy="109728"/>
          </a:xfrm>
          <a:prstGeom prst="rect">
            <a:avLst/>
          </a:prstGeom>
          <a:noFill/>
        </p:spPr>
        <p:txBody>
          <a:bodyPr wrap="square" lIns="0" rIns="0" tIns="0" bIns="0" anchor="t">
            <a:spAutoFit/>
          </a:bodyPr>
          <a:lstStyle/>
          <a:p>
            <a:pPr algn="ctr"/>
            <a:r>
              <a:rPr sz="1000" b="1">
                <a:solidFill>
                  <a:srgbClr val="050B16"/>
                </a:solidFill>
                <a:latin typeface="Aptos"/>
              </a:rPr>
              <a:t>R</a:t>
            </a:r>
          </a:p>
        </p:txBody>
      </p:sp>
      <p:sp>
        <p:nvSpPr>
          <p:cNvPr id="5" name="TextBox 4"/>
          <p:cNvSpPr txBox="1"/>
          <p:nvPr/>
        </p:nvSpPr>
        <p:spPr>
          <a:xfrm>
            <a:off x="1042416" y="356616"/>
            <a:ext cx="1005840" cy="219456"/>
          </a:xfrm>
          <a:prstGeom prst="rect">
            <a:avLst/>
          </a:prstGeom>
          <a:noFill/>
        </p:spPr>
        <p:txBody>
          <a:bodyPr wrap="square" lIns="0" rIns="0" tIns="0" bIns="0" anchor="t">
            <a:spAutoFit/>
          </a:bodyPr>
          <a:lstStyle/>
          <a:p>
            <a:pPr algn="l"/>
            <a:r>
              <a:rPr sz="1500" b="1">
                <a:solidFill>
                  <a:srgbClr val="F8FAFC"/>
                </a:solidFill>
                <a:latin typeface="Aptos"/>
              </a:rPr>
              <a:t>replii</a:t>
            </a:r>
          </a:p>
        </p:txBody>
      </p:sp>
      <p:sp>
        <p:nvSpPr>
          <p:cNvPr id="6" name="TextBox 5"/>
          <p:cNvSpPr txBox="1"/>
          <p:nvPr/>
        </p:nvSpPr>
        <p:spPr>
          <a:xfrm>
            <a:off x="658368" y="6345936"/>
            <a:ext cx="2834640" cy="137160"/>
          </a:xfrm>
          <a:prstGeom prst="rect">
            <a:avLst/>
          </a:prstGeom>
          <a:noFill/>
        </p:spPr>
        <p:txBody>
          <a:bodyPr wrap="square" lIns="0" rIns="0" tIns="0" bIns="0" anchor="t">
            <a:spAutoFit/>
          </a:bodyPr>
          <a:lstStyle/>
          <a:p>
            <a:pPr algn="l"/>
            <a:r>
              <a:rPr sz="750" b="0">
                <a:solidFill>
                  <a:srgbClr val="A4B1C3"/>
                </a:solidFill>
                <a:latin typeface="Aptos"/>
              </a:rPr>
              <a:t>Confidential | Replii investor discussion</a:t>
            </a:r>
          </a:p>
        </p:txBody>
      </p:sp>
      <p:sp>
        <p:nvSpPr>
          <p:cNvPr id="7" name="TextBox 6"/>
          <p:cNvSpPr txBox="1"/>
          <p:nvPr/>
        </p:nvSpPr>
        <p:spPr>
          <a:xfrm>
            <a:off x="11155680" y="6345936"/>
            <a:ext cx="320040" cy="146304"/>
          </a:xfrm>
          <a:prstGeom prst="rect">
            <a:avLst/>
          </a:prstGeom>
          <a:noFill/>
        </p:spPr>
        <p:txBody>
          <a:bodyPr wrap="square" lIns="0" rIns="0" tIns="0" bIns="0" anchor="t">
            <a:spAutoFit/>
          </a:bodyPr>
          <a:lstStyle/>
          <a:p>
            <a:pPr algn="r"/>
            <a:r>
              <a:rPr sz="750" b="0">
                <a:solidFill>
                  <a:srgbClr val="A4B1C3"/>
                </a:solidFill>
                <a:latin typeface="Aptos"/>
              </a:rPr>
              <a:t>9</a:t>
            </a:r>
          </a:p>
        </p:txBody>
      </p:sp>
      <p:sp>
        <p:nvSpPr>
          <p:cNvPr id="8" name="TextBox 7"/>
          <p:cNvSpPr txBox="1"/>
          <p:nvPr/>
        </p:nvSpPr>
        <p:spPr>
          <a:xfrm>
            <a:off x="658368" y="1170432"/>
            <a:ext cx="3017520" cy="228600"/>
          </a:xfrm>
          <a:prstGeom prst="rect">
            <a:avLst/>
          </a:prstGeom>
          <a:noFill/>
        </p:spPr>
        <p:txBody>
          <a:bodyPr wrap="square" lIns="0" rIns="0" tIns="0" bIns="0" anchor="t">
            <a:spAutoFit/>
          </a:bodyPr>
          <a:lstStyle/>
          <a:p>
            <a:pPr algn="l"/>
            <a:r>
              <a:rPr sz="1230" b="1">
                <a:solidFill>
                  <a:srgbClr val="F8FAFC"/>
                </a:solidFill>
                <a:latin typeface="Aptos"/>
              </a:rPr>
              <a:t>Architecture</a:t>
            </a:r>
          </a:p>
        </p:txBody>
      </p:sp>
      <p:sp>
        <p:nvSpPr>
          <p:cNvPr id="9" name="Rounded Rectangle 8"/>
          <p:cNvSpPr/>
          <p:nvPr/>
        </p:nvSpPr>
        <p:spPr>
          <a:xfrm>
            <a:off x="658368" y="1623060"/>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623060"/>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1" name="TextBox 10"/>
          <p:cNvSpPr txBox="1"/>
          <p:nvPr/>
        </p:nvSpPr>
        <p:spPr>
          <a:xfrm>
            <a:off x="896112" y="1604772"/>
            <a:ext cx="3008376" cy="329184"/>
          </a:xfrm>
          <a:prstGeom prst="rect">
            <a:avLst/>
          </a:prstGeom>
          <a:noFill/>
        </p:spPr>
        <p:txBody>
          <a:bodyPr wrap="square" lIns="0" rIns="0" tIns="0" bIns="0" anchor="t">
            <a:spAutoFit/>
          </a:bodyPr>
          <a:lstStyle/>
          <a:p>
            <a:pPr algn="l"/>
            <a:r>
              <a:rPr sz="860" b="0">
                <a:solidFill>
                  <a:srgbClr val="CBD5E1"/>
                </a:solidFill>
                <a:latin typeface="Aptos"/>
              </a:rPr>
              <a:t>Audio pipeline and model routing designed for sub-100ms inference.</a:t>
            </a:r>
          </a:p>
        </p:txBody>
      </p:sp>
      <p:sp>
        <p:nvSpPr>
          <p:cNvPr id="12" name="Rounded Rectangle 11"/>
          <p:cNvSpPr/>
          <p:nvPr/>
        </p:nvSpPr>
        <p:spPr>
          <a:xfrm>
            <a:off x="658368" y="229057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29057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4" name="TextBox 13"/>
          <p:cNvSpPr txBox="1"/>
          <p:nvPr/>
        </p:nvSpPr>
        <p:spPr>
          <a:xfrm>
            <a:off x="896112" y="2272284"/>
            <a:ext cx="3008376" cy="329184"/>
          </a:xfrm>
          <a:prstGeom prst="rect">
            <a:avLst/>
          </a:prstGeom>
          <a:noFill/>
        </p:spPr>
        <p:txBody>
          <a:bodyPr wrap="square" lIns="0" rIns="0" tIns="0" bIns="0" anchor="t">
            <a:spAutoFit/>
          </a:bodyPr>
          <a:lstStyle/>
          <a:p>
            <a:pPr algn="l"/>
            <a:r>
              <a:rPr sz="860" b="0">
                <a:solidFill>
                  <a:srgbClr val="CBD5E1"/>
                </a:solidFill>
                <a:latin typeface="Aptos"/>
              </a:rPr>
              <a:t>The system is optimised for intervention timing, not summarisation.</a:t>
            </a:r>
          </a:p>
        </p:txBody>
      </p:sp>
      <p:sp>
        <p:nvSpPr>
          <p:cNvPr id="15" name="Rounded Rectangle 14"/>
          <p:cNvSpPr/>
          <p:nvPr/>
        </p:nvSpPr>
        <p:spPr>
          <a:xfrm>
            <a:off x="658368" y="2958084"/>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2958084"/>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7" name="TextBox 16"/>
          <p:cNvSpPr txBox="1"/>
          <p:nvPr/>
        </p:nvSpPr>
        <p:spPr>
          <a:xfrm>
            <a:off x="896112" y="2939796"/>
            <a:ext cx="3008376" cy="329184"/>
          </a:xfrm>
          <a:prstGeom prst="rect">
            <a:avLst/>
          </a:prstGeom>
          <a:noFill/>
        </p:spPr>
        <p:txBody>
          <a:bodyPr wrap="square" lIns="0" rIns="0" tIns="0" bIns="0" anchor="t">
            <a:spAutoFit/>
          </a:bodyPr>
          <a:lstStyle/>
          <a:p>
            <a:pPr algn="l"/>
            <a:r>
              <a:rPr sz="860" b="0">
                <a:solidFill>
                  <a:srgbClr val="CBD5E1"/>
                </a:solidFill>
                <a:latin typeface="Aptos"/>
              </a:rPr>
              <a:t>Incumbents must re-architect from post-call to in-call.</a:t>
            </a:r>
          </a:p>
        </p:txBody>
      </p:sp>
      <p:sp>
        <p:nvSpPr>
          <p:cNvPr id="18" name="Rectangle 17"/>
          <p:cNvSpPr/>
          <p:nvPr/>
        </p:nvSpPr>
        <p:spPr>
          <a:xfrm>
            <a:off x="4059936" y="1097280"/>
            <a:ext cx="10972" cy="4983480"/>
          </a:xfrm>
          <a:prstGeom prst="rect">
            <a:avLst/>
          </a:prstGeom>
          <a:solidFill>
            <a:srgbClr val="5F6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7408" y="1170432"/>
            <a:ext cx="3017520" cy="228600"/>
          </a:xfrm>
          <a:prstGeom prst="rect">
            <a:avLst/>
          </a:prstGeom>
          <a:noFill/>
        </p:spPr>
        <p:txBody>
          <a:bodyPr wrap="square" lIns="0" rIns="0" tIns="0" bIns="0" anchor="t">
            <a:spAutoFit/>
          </a:bodyPr>
          <a:lstStyle/>
          <a:p>
            <a:pPr algn="l"/>
            <a:r>
              <a:rPr sz="1230" b="1">
                <a:solidFill>
                  <a:srgbClr val="F8FAFC"/>
                </a:solidFill>
                <a:latin typeface="Aptos"/>
              </a:rPr>
              <a:t>Data flywheel</a:t>
            </a:r>
          </a:p>
        </p:txBody>
      </p:sp>
      <p:sp>
        <p:nvSpPr>
          <p:cNvPr id="20" name="Rounded Rectangle 19"/>
          <p:cNvSpPr/>
          <p:nvPr/>
        </p:nvSpPr>
        <p:spPr>
          <a:xfrm>
            <a:off x="4407408" y="1623060"/>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6" y="1623060"/>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2" name="TextBox 21"/>
          <p:cNvSpPr txBox="1"/>
          <p:nvPr/>
        </p:nvSpPr>
        <p:spPr>
          <a:xfrm>
            <a:off x="4645152" y="1604772"/>
            <a:ext cx="3008376" cy="329184"/>
          </a:xfrm>
          <a:prstGeom prst="rect">
            <a:avLst/>
          </a:prstGeom>
          <a:noFill/>
        </p:spPr>
        <p:txBody>
          <a:bodyPr wrap="square" lIns="0" rIns="0" tIns="0" bIns="0" anchor="t">
            <a:spAutoFit/>
          </a:bodyPr>
          <a:lstStyle/>
          <a:p>
            <a:pPr algn="l"/>
            <a:r>
              <a:rPr sz="860" b="0">
                <a:solidFill>
                  <a:srgbClr val="CBD5E1"/>
                </a:solidFill>
                <a:latin typeface="Aptos"/>
              </a:rPr>
              <a:t>Capture conversations, intervention moments and outcomes.</a:t>
            </a:r>
          </a:p>
        </p:txBody>
      </p:sp>
      <p:sp>
        <p:nvSpPr>
          <p:cNvPr id="23" name="Rounded Rectangle 22"/>
          <p:cNvSpPr/>
          <p:nvPr/>
        </p:nvSpPr>
        <p:spPr>
          <a:xfrm>
            <a:off x="4407408" y="229057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25696" y="229057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5" name="TextBox 24"/>
          <p:cNvSpPr txBox="1"/>
          <p:nvPr/>
        </p:nvSpPr>
        <p:spPr>
          <a:xfrm>
            <a:off x="4645152" y="2272284"/>
            <a:ext cx="3008376" cy="329184"/>
          </a:xfrm>
          <a:prstGeom prst="rect">
            <a:avLst/>
          </a:prstGeom>
          <a:noFill/>
        </p:spPr>
        <p:txBody>
          <a:bodyPr wrap="square" lIns="0" rIns="0" tIns="0" bIns="0" anchor="t">
            <a:spAutoFit/>
          </a:bodyPr>
          <a:lstStyle/>
          <a:p>
            <a:pPr algn="l"/>
            <a:r>
              <a:rPr sz="860" b="0">
                <a:solidFill>
                  <a:srgbClr val="CBD5E1"/>
                </a:solidFill>
                <a:latin typeface="Aptos"/>
              </a:rPr>
              <a:t>Learn each customer’s playbooks, objections, risk language and winning patterns.</a:t>
            </a:r>
          </a:p>
        </p:txBody>
      </p:sp>
      <p:sp>
        <p:nvSpPr>
          <p:cNvPr id="26" name="Rounded Rectangle 25"/>
          <p:cNvSpPr/>
          <p:nvPr/>
        </p:nvSpPr>
        <p:spPr>
          <a:xfrm>
            <a:off x="4407408" y="2958084"/>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5696" y="2958084"/>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8" name="TextBox 27"/>
          <p:cNvSpPr txBox="1"/>
          <p:nvPr/>
        </p:nvSpPr>
        <p:spPr>
          <a:xfrm>
            <a:off x="4645152" y="2939796"/>
            <a:ext cx="3008376" cy="329184"/>
          </a:xfrm>
          <a:prstGeom prst="rect">
            <a:avLst/>
          </a:prstGeom>
          <a:noFill/>
        </p:spPr>
        <p:txBody>
          <a:bodyPr wrap="square" lIns="0" rIns="0" tIns="0" bIns="0" anchor="t">
            <a:spAutoFit/>
          </a:bodyPr>
          <a:lstStyle/>
          <a:p>
            <a:pPr algn="l"/>
            <a:r>
              <a:rPr sz="860" b="0">
                <a:solidFill>
                  <a:srgbClr val="CBD5E1"/>
                </a:solidFill>
                <a:latin typeface="Aptos"/>
              </a:rPr>
              <a:t>The product gets more specific and harder to replace over time.</a:t>
            </a:r>
          </a:p>
        </p:txBody>
      </p:sp>
      <p:sp>
        <p:nvSpPr>
          <p:cNvPr id="29" name="Rectangle 28"/>
          <p:cNvSpPr/>
          <p:nvPr/>
        </p:nvSpPr>
        <p:spPr>
          <a:xfrm>
            <a:off x="7808976" y="1097280"/>
            <a:ext cx="10972" cy="4983480"/>
          </a:xfrm>
          <a:prstGeom prst="rect">
            <a:avLst/>
          </a:prstGeom>
          <a:solidFill>
            <a:srgbClr val="5F6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56448" y="1170432"/>
            <a:ext cx="3017520" cy="228600"/>
          </a:xfrm>
          <a:prstGeom prst="rect">
            <a:avLst/>
          </a:prstGeom>
          <a:noFill/>
        </p:spPr>
        <p:txBody>
          <a:bodyPr wrap="square" lIns="0" rIns="0" tIns="0" bIns="0" anchor="t">
            <a:spAutoFit/>
          </a:bodyPr>
          <a:lstStyle/>
          <a:p>
            <a:pPr algn="l"/>
            <a:r>
              <a:rPr sz="1230" b="1">
                <a:solidFill>
                  <a:srgbClr val="F8FAFC"/>
                </a:solidFill>
                <a:latin typeface="Aptos"/>
              </a:rPr>
              <a:t>Enterprise barriers</a:t>
            </a:r>
          </a:p>
        </p:txBody>
      </p:sp>
      <p:sp>
        <p:nvSpPr>
          <p:cNvPr id="31" name="Rounded Rectangle 30"/>
          <p:cNvSpPr/>
          <p:nvPr/>
        </p:nvSpPr>
        <p:spPr>
          <a:xfrm>
            <a:off x="8156448" y="1623060"/>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74736" y="1623060"/>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3" name="TextBox 32"/>
          <p:cNvSpPr txBox="1"/>
          <p:nvPr/>
        </p:nvSpPr>
        <p:spPr>
          <a:xfrm>
            <a:off x="8394192" y="1604772"/>
            <a:ext cx="3008376" cy="329184"/>
          </a:xfrm>
          <a:prstGeom prst="rect">
            <a:avLst/>
          </a:prstGeom>
          <a:noFill/>
        </p:spPr>
        <p:txBody>
          <a:bodyPr wrap="square" lIns="0" rIns="0" tIns="0" bIns="0" anchor="t">
            <a:spAutoFit/>
          </a:bodyPr>
          <a:lstStyle/>
          <a:p>
            <a:pPr algn="l"/>
            <a:r>
              <a:rPr sz="860" b="0">
                <a:solidFill>
                  <a:srgbClr val="CBD5E1"/>
                </a:solidFill>
                <a:latin typeface="Aptos"/>
              </a:rPr>
              <a:t>SOC 2, ISO 27001 and regulated deployment paths.</a:t>
            </a:r>
          </a:p>
        </p:txBody>
      </p:sp>
      <p:sp>
        <p:nvSpPr>
          <p:cNvPr id="34" name="Rounded Rectangle 33"/>
          <p:cNvSpPr/>
          <p:nvPr/>
        </p:nvSpPr>
        <p:spPr>
          <a:xfrm>
            <a:off x="8156448" y="229057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74736" y="229057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6" name="TextBox 35"/>
          <p:cNvSpPr txBox="1"/>
          <p:nvPr/>
        </p:nvSpPr>
        <p:spPr>
          <a:xfrm>
            <a:off x="8394192" y="2272284"/>
            <a:ext cx="3008376" cy="329184"/>
          </a:xfrm>
          <a:prstGeom prst="rect">
            <a:avLst/>
          </a:prstGeom>
          <a:noFill/>
        </p:spPr>
        <p:txBody>
          <a:bodyPr wrap="square" lIns="0" rIns="0" tIns="0" bIns="0" anchor="t">
            <a:spAutoFit/>
          </a:bodyPr>
          <a:lstStyle/>
          <a:p>
            <a:pPr algn="l"/>
            <a:r>
              <a:rPr sz="860" b="0">
                <a:solidFill>
                  <a:srgbClr val="CBD5E1"/>
                </a:solidFill>
                <a:latin typeface="Aptos"/>
              </a:rPr>
              <a:t>FCA-adjacent workflows and compliance datasets.</a:t>
            </a:r>
          </a:p>
        </p:txBody>
      </p:sp>
      <p:sp>
        <p:nvSpPr>
          <p:cNvPr id="37" name="Rounded Rectangle 36"/>
          <p:cNvSpPr/>
          <p:nvPr/>
        </p:nvSpPr>
        <p:spPr>
          <a:xfrm>
            <a:off x="8156448" y="2958084"/>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74736" y="2958084"/>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9" name="TextBox 38"/>
          <p:cNvSpPr txBox="1"/>
          <p:nvPr/>
        </p:nvSpPr>
        <p:spPr>
          <a:xfrm>
            <a:off x="8394192" y="2939796"/>
            <a:ext cx="3008376" cy="329184"/>
          </a:xfrm>
          <a:prstGeom prst="rect">
            <a:avLst/>
          </a:prstGeom>
          <a:noFill/>
        </p:spPr>
        <p:txBody>
          <a:bodyPr wrap="square" lIns="0" rIns="0" tIns="0" bIns="0" anchor="t">
            <a:spAutoFit/>
          </a:bodyPr>
          <a:lstStyle/>
          <a:p>
            <a:pPr algn="l"/>
            <a:r>
              <a:rPr sz="860" b="0">
                <a:solidFill>
                  <a:srgbClr val="CBD5E1"/>
                </a:solidFill>
                <a:latin typeface="Aptos"/>
              </a:rPr>
              <a:t>Switching costs compound through model tuning and workflow integration.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ii-bg-main.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58368" y="347472"/>
            <a:ext cx="292608" cy="292608"/>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06908"/>
            <a:ext cx="292608" cy="109728"/>
          </a:xfrm>
          <a:prstGeom prst="rect">
            <a:avLst/>
          </a:prstGeom>
          <a:noFill/>
        </p:spPr>
        <p:txBody>
          <a:bodyPr wrap="square" lIns="0" rIns="0" tIns="0" bIns="0" anchor="t">
            <a:spAutoFit/>
          </a:bodyPr>
          <a:lstStyle/>
          <a:p>
            <a:pPr algn="ctr"/>
            <a:r>
              <a:rPr sz="1000" b="1">
                <a:solidFill>
                  <a:srgbClr val="050B16"/>
                </a:solidFill>
                <a:latin typeface="Aptos"/>
              </a:rPr>
              <a:t>R</a:t>
            </a:r>
          </a:p>
        </p:txBody>
      </p:sp>
      <p:sp>
        <p:nvSpPr>
          <p:cNvPr id="5" name="TextBox 4"/>
          <p:cNvSpPr txBox="1"/>
          <p:nvPr/>
        </p:nvSpPr>
        <p:spPr>
          <a:xfrm>
            <a:off x="1042416" y="356616"/>
            <a:ext cx="1005840" cy="219456"/>
          </a:xfrm>
          <a:prstGeom prst="rect">
            <a:avLst/>
          </a:prstGeom>
          <a:noFill/>
        </p:spPr>
        <p:txBody>
          <a:bodyPr wrap="square" lIns="0" rIns="0" tIns="0" bIns="0" anchor="t">
            <a:spAutoFit/>
          </a:bodyPr>
          <a:lstStyle/>
          <a:p>
            <a:pPr algn="l"/>
            <a:r>
              <a:rPr sz="1500" b="1">
                <a:solidFill>
                  <a:srgbClr val="F8FAFC"/>
                </a:solidFill>
                <a:latin typeface="Aptos"/>
              </a:rPr>
              <a:t>replii</a:t>
            </a:r>
          </a:p>
        </p:txBody>
      </p:sp>
      <p:sp>
        <p:nvSpPr>
          <p:cNvPr id="6" name="TextBox 5"/>
          <p:cNvSpPr txBox="1"/>
          <p:nvPr/>
        </p:nvSpPr>
        <p:spPr>
          <a:xfrm>
            <a:off x="658368" y="6345936"/>
            <a:ext cx="2834640" cy="137160"/>
          </a:xfrm>
          <a:prstGeom prst="rect">
            <a:avLst/>
          </a:prstGeom>
          <a:noFill/>
        </p:spPr>
        <p:txBody>
          <a:bodyPr wrap="square" lIns="0" rIns="0" tIns="0" bIns="0" anchor="t">
            <a:spAutoFit/>
          </a:bodyPr>
          <a:lstStyle/>
          <a:p>
            <a:pPr algn="l"/>
            <a:r>
              <a:rPr sz="750" b="0">
                <a:solidFill>
                  <a:srgbClr val="A4B1C3"/>
                </a:solidFill>
                <a:latin typeface="Aptos"/>
              </a:rPr>
              <a:t>Confidential | Replii investor discussion</a:t>
            </a:r>
          </a:p>
        </p:txBody>
      </p:sp>
      <p:sp>
        <p:nvSpPr>
          <p:cNvPr id="7" name="TextBox 6"/>
          <p:cNvSpPr txBox="1"/>
          <p:nvPr/>
        </p:nvSpPr>
        <p:spPr>
          <a:xfrm>
            <a:off x="11155680" y="6345936"/>
            <a:ext cx="320040" cy="146304"/>
          </a:xfrm>
          <a:prstGeom prst="rect">
            <a:avLst/>
          </a:prstGeom>
          <a:noFill/>
        </p:spPr>
        <p:txBody>
          <a:bodyPr wrap="square" lIns="0" rIns="0" tIns="0" bIns="0" anchor="t">
            <a:spAutoFit/>
          </a:bodyPr>
          <a:lstStyle/>
          <a:p>
            <a:pPr algn="r"/>
            <a:r>
              <a:rPr sz="750" b="0">
                <a:solidFill>
                  <a:srgbClr val="A4B1C3"/>
                </a:solidFill>
                <a:latin typeface="Aptos"/>
              </a:rPr>
              <a:t>10</a:t>
            </a:r>
          </a:p>
        </p:txBody>
      </p:sp>
      <p:sp>
        <p:nvSpPr>
          <p:cNvPr id="8" name="TextBox 7"/>
          <p:cNvSpPr txBox="1"/>
          <p:nvPr/>
        </p:nvSpPr>
        <p:spPr>
          <a:xfrm>
            <a:off x="658368" y="868680"/>
            <a:ext cx="3657600" cy="274320"/>
          </a:xfrm>
          <a:prstGeom prst="rect">
            <a:avLst/>
          </a:prstGeom>
          <a:noFill/>
        </p:spPr>
        <p:txBody>
          <a:bodyPr wrap="square" lIns="0" rIns="0" tIns="0" bIns="0" anchor="t">
            <a:spAutoFit/>
          </a:bodyPr>
          <a:lstStyle/>
          <a:p>
            <a:pPr algn="l"/>
            <a:r>
              <a:rPr sz="1500" b="1">
                <a:solidFill>
                  <a:srgbClr val="F8FAFC"/>
                </a:solidFill>
                <a:latin typeface="Aptos"/>
              </a:rPr>
              <a:t>Business model</a:t>
            </a:r>
          </a:p>
        </p:txBody>
      </p:sp>
      <p:sp>
        <p:nvSpPr>
          <p:cNvPr id="9" name="TextBox 8"/>
          <p:cNvSpPr txBox="1"/>
          <p:nvPr/>
        </p:nvSpPr>
        <p:spPr>
          <a:xfrm>
            <a:off x="658368" y="1234440"/>
            <a:ext cx="8686800" cy="914400"/>
          </a:xfrm>
          <a:prstGeom prst="rect">
            <a:avLst/>
          </a:prstGeom>
          <a:noFill/>
        </p:spPr>
        <p:txBody>
          <a:bodyPr wrap="square" lIns="0" rIns="0" tIns="0" bIns="0" anchor="t">
            <a:spAutoFit/>
          </a:bodyPr>
          <a:lstStyle/>
          <a:p>
            <a:pPr algn="l"/>
            <a:r>
              <a:rPr sz="3000" b="1">
                <a:solidFill>
                  <a:srgbClr val="F8FAFC"/>
                </a:solidFill>
                <a:latin typeface="Aptos"/>
              </a:rPr>
              <a:t>Land with revenue ROI. Expand with platform value.</a:t>
            </a:r>
          </a:p>
        </p:txBody>
      </p:sp>
      <p:sp>
        <p:nvSpPr>
          <p:cNvPr id="10" name="Rounded Rectangle 9"/>
          <p:cNvSpPr/>
          <p:nvPr/>
        </p:nvSpPr>
        <p:spPr>
          <a:xfrm>
            <a:off x="749808" y="2743200"/>
            <a:ext cx="3154680" cy="2240280"/>
          </a:xfrm>
          <a:prstGeom prst="roundRect">
            <a:avLst/>
          </a:prstGeom>
          <a:solidFill>
            <a:srgbClr val="0E1523"/>
          </a:solidFill>
          <a:ln w="10160">
            <a:solidFill>
              <a:srgbClr val="435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035808"/>
            <a:ext cx="2468880" cy="228600"/>
          </a:xfrm>
          <a:prstGeom prst="rect">
            <a:avLst/>
          </a:prstGeom>
          <a:noFill/>
        </p:spPr>
        <p:txBody>
          <a:bodyPr wrap="square" lIns="0" rIns="0" tIns="0" bIns="0" anchor="t">
            <a:spAutoFit/>
          </a:bodyPr>
          <a:lstStyle/>
          <a:p>
            <a:pPr algn="l"/>
            <a:r>
              <a:rPr sz="1500" b="1">
                <a:solidFill>
                  <a:srgbClr val="F8FAFC"/>
                </a:solidFill>
                <a:latin typeface="Aptos"/>
              </a:rPr>
              <a:t>Sales wedge</a:t>
            </a:r>
          </a:p>
        </p:txBody>
      </p:sp>
      <p:sp>
        <p:nvSpPr>
          <p:cNvPr id="12" name="TextBox 11"/>
          <p:cNvSpPr txBox="1"/>
          <p:nvPr/>
        </p:nvSpPr>
        <p:spPr>
          <a:xfrm>
            <a:off x="978408" y="3566160"/>
            <a:ext cx="2606040" cy="274320"/>
          </a:xfrm>
          <a:prstGeom prst="rect">
            <a:avLst/>
          </a:prstGeom>
          <a:noFill/>
        </p:spPr>
        <p:txBody>
          <a:bodyPr wrap="square" lIns="0" rIns="0" tIns="0" bIns="0" anchor="t">
            <a:spAutoFit/>
          </a:bodyPr>
          <a:lstStyle/>
          <a:p>
            <a:pPr algn="l"/>
            <a:r>
              <a:rPr sz="1700" b="1">
                <a:solidFill>
                  <a:srgbClr val="65FFAF"/>
                </a:solidFill>
                <a:latin typeface="Aptos"/>
              </a:rPr>
              <a:t>GBP 24k-60k ACV</a:t>
            </a:r>
          </a:p>
        </p:txBody>
      </p:sp>
      <p:sp>
        <p:nvSpPr>
          <p:cNvPr id="13" name="TextBox 12"/>
          <p:cNvSpPr txBox="1"/>
          <p:nvPr/>
        </p:nvSpPr>
        <p:spPr>
          <a:xfrm>
            <a:off x="978408" y="4096512"/>
            <a:ext cx="2606040" cy="502920"/>
          </a:xfrm>
          <a:prstGeom prst="rect">
            <a:avLst/>
          </a:prstGeom>
          <a:noFill/>
        </p:spPr>
        <p:txBody>
          <a:bodyPr wrap="square" lIns="0" rIns="0" tIns="0" bIns="0" anchor="t">
            <a:spAutoFit/>
          </a:bodyPr>
          <a:lstStyle/>
          <a:p>
            <a:pPr algn="l"/>
            <a:r>
              <a:rPr sz="919" b="0">
                <a:solidFill>
                  <a:srgbClr val="A4B1C3"/>
                </a:solidFill>
                <a:latin typeface="Aptos"/>
              </a:rPr>
              <a:t>Win rate, ramp speed, conversion and manager visibility.</a:t>
            </a:r>
          </a:p>
        </p:txBody>
      </p:sp>
      <p:sp>
        <p:nvSpPr>
          <p:cNvPr id="14" name="Rounded Rectangle 13"/>
          <p:cNvSpPr/>
          <p:nvPr/>
        </p:nvSpPr>
        <p:spPr>
          <a:xfrm>
            <a:off x="4498848" y="2743200"/>
            <a:ext cx="3154680" cy="2240280"/>
          </a:xfrm>
          <a:prstGeom prst="roundRect">
            <a:avLst/>
          </a:prstGeom>
          <a:solidFill>
            <a:srgbClr val="0E1523"/>
          </a:solidFill>
          <a:ln w="10160">
            <a:solidFill>
              <a:srgbClr val="435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3035808"/>
            <a:ext cx="2468880" cy="228600"/>
          </a:xfrm>
          <a:prstGeom prst="rect">
            <a:avLst/>
          </a:prstGeom>
          <a:noFill/>
        </p:spPr>
        <p:txBody>
          <a:bodyPr wrap="square" lIns="0" rIns="0" tIns="0" bIns="0" anchor="t">
            <a:spAutoFit/>
          </a:bodyPr>
          <a:lstStyle/>
          <a:p>
            <a:pPr algn="l"/>
            <a:r>
              <a:rPr sz="1500" b="1">
                <a:solidFill>
                  <a:srgbClr val="F8FAFC"/>
                </a:solidFill>
                <a:latin typeface="Aptos"/>
              </a:rPr>
              <a:t>Contact centres</a:t>
            </a:r>
          </a:p>
        </p:txBody>
      </p:sp>
      <p:sp>
        <p:nvSpPr>
          <p:cNvPr id="16" name="TextBox 15"/>
          <p:cNvSpPr txBox="1"/>
          <p:nvPr/>
        </p:nvSpPr>
        <p:spPr>
          <a:xfrm>
            <a:off x="4727448" y="3566160"/>
            <a:ext cx="2606040" cy="274320"/>
          </a:xfrm>
          <a:prstGeom prst="rect">
            <a:avLst/>
          </a:prstGeom>
          <a:noFill/>
        </p:spPr>
        <p:txBody>
          <a:bodyPr wrap="square" lIns="0" rIns="0" tIns="0" bIns="0" anchor="t">
            <a:spAutoFit/>
          </a:bodyPr>
          <a:lstStyle/>
          <a:p>
            <a:pPr algn="l"/>
            <a:r>
              <a:rPr sz="1700" b="1">
                <a:solidFill>
                  <a:srgbClr val="65FFAF"/>
                </a:solidFill>
                <a:latin typeface="Aptos"/>
              </a:rPr>
              <a:t>GBP 100k-500k+ ACV</a:t>
            </a:r>
          </a:p>
        </p:txBody>
      </p:sp>
      <p:sp>
        <p:nvSpPr>
          <p:cNvPr id="17" name="TextBox 16"/>
          <p:cNvSpPr txBox="1"/>
          <p:nvPr/>
        </p:nvSpPr>
        <p:spPr>
          <a:xfrm>
            <a:off x="4727448" y="4096512"/>
            <a:ext cx="2606040" cy="502920"/>
          </a:xfrm>
          <a:prstGeom prst="rect">
            <a:avLst/>
          </a:prstGeom>
          <a:noFill/>
        </p:spPr>
        <p:txBody>
          <a:bodyPr wrap="square" lIns="0" rIns="0" tIns="0" bIns="0" anchor="t">
            <a:spAutoFit/>
          </a:bodyPr>
          <a:lstStyle/>
          <a:p>
            <a:pPr algn="l"/>
            <a:r>
              <a:rPr sz="919" b="0">
                <a:solidFill>
                  <a:srgbClr val="A4B1C3"/>
                </a:solidFill>
                <a:latin typeface="Aptos"/>
              </a:rPr>
              <a:t>Compliance prevention, QA automation and live agent performance.</a:t>
            </a:r>
          </a:p>
        </p:txBody>
      </p:sp>
      <p:sp>
        <p:nvSpPr>
          <p:cNvPr id="18" name="Rounded Rectangle 17"/>
          <p:cNvSpPr/>
          <p:nvPr/>
        </p:nvSpPr>
        <p:spPr>
          <a:xfrm>
            <a:off x="8247888" y="2743200"/>
            <a:ext cx="3154680" cy="2240280"/>
          </a:xfrm>
          <a:prstGeom prst="roundRect">
            <a:avLst/>
          </a:prstGeom>
          <a:solidFill>
            <a:srgbClr val="0E1523"/>
          </a:solidFill>
          <a:ln w="10160">
            <a:solidFill>
              <a:srgbClr val="435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76488" y="3035808"/>
            <a:ext cx="2468880" cy="228600"/>
          </a:xfrm>
          <a:prstGeom prst="rect">
            <a:avLst/>
          </a:prstGeom>
          <a:noFill/>
        </p:spPr>
        <p:txBody>
          <a:bodyPr wrap="square" lIns="0" rIns="0" tIns="0" bIns="0" anchor="t">
            <a:spAutoFit/>
          </a:bodyPr>
          <a:lstStyle/>
          <a:p>
            <a:pPr algn="l"/>
            <a:r>
              <a:rPr sz="1500" b="1">
                <a:solidFill>
                  <a:srgbClr val="F8FAFC"/>
                </a:solidFill>
                <a:latin typeface="Aptos"/>
              </a:rPr>
              <a:t>Platform</a:t>
            </a:r>
          </a:p>
        </p:txBody>
      </p:sp>
      <p:sp>
        <p:nvSpPr>
          <p:cNvPr id="20" name="TextBox 19"/>
          <p:cNvSpPr txBox="1"/>
          <p:nvPr/>
        </p:nvSpPr>
        <p:spPr>
          <a:xfrm>
            <a:off x="8476488" y="3566160"/>
            <a:ext cx="2606040" cy="274320"/>
          </a:xfrm>
          <a:prstGeom prst="rect">
            <a:avLst/>
          </a:prstGeom>
          <a:noFill/>
        </p:spPr>
        <p:txBody>
          <a:bodyPr wrap="square" lIns="0" rIns="0" tIns="0" bIns="0" anchor="t">
            <a:spAutoFit/>
          </a:bodyPr>
          <a:lstStyle/>
          <a:p>
            <a:pPr algn="l"/>
            <a:r>
              <a:rPr sz="1700" b="1">
                <a:solidFill>
                  <a:srgbClr val="65FFAF"/>
                </a:solidFill>
                <a:latin typeface="Aptos"/>
              </a:rPr>
              <a:t>GBP 500k+ contracts</a:t>
            </a:r>
          </a:p>
        </p:txBody>
      </p:sp>
      <p:sp>
        <p:nvSpPr>
          <p:cNvPr id="21" name="TextBox 20"/>
          <p:cNvSpPr txBox="1"/>
          <p:nvPr/>
        </p:nvSpPr>
        <p:spPr>
          <a:xfrm>
            <a:off x="8476488" y="4096512"/>
            <a:ext cx="2606040" cy="502920"/>
          </a:xfrm>
          <a:prstGeom prst="rect">
            <a:avLst/>
          </a:prstGeom>
          <a:noFill/>
        </p:spPr>
        <p:txBody>
          <a:bodyPr wrap="square" lIns="0" rIns="0" tIns="0" bIns="0" anchor="t">
            <a:spAutoFit/>
          </a:bodyPr>
          <a:lstStyle/>
          <a:p>
            <a:pPr algn="l"/>
            <a:r>
              <a:rPr sz="919" b="0">
                <a:solidFill>
                  <a:srgbClr val="A4B1C3"/>
                </a:solidFill>
                <a:latin typeface="Aptos"/>
              </a:rPr>
              <a:t>Live conversation infrastructure embedded across workflows.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ii-bg-al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58368" y="347472"/>
            <a:ext cx="292608" cy="292608"/>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06908"/>
            <a:ext cx="292608" cy="109728"/>
          </a:xfrm>
          <a:prstGeom prst="rect">
            <a:avLst/>
          </a:prstGeom>
          <a:noFill/>
        </p:spPr>
        <p:txBody>
          <a:bodyPr wrap="square" lIns="0" rIns="0" tIns="0" bIns="0" anchor="t">
            <a:spAutoFit/>
          </a:bodyPr>
          <a:lstStyle/>
          <a:p>
            <a:pPr algn="ctr"/>
            <a:r>
              <a:rPr sz="1000" b="1">
                <a:solidFill>
                  <a:srgbClr val="050B16"/>
                </a:solidFill>
                <a:latin typeface="Aptos"/>
              </a:rPr>
              <a:t>R</a:t>
            </a:r>
          </a:p>
        </p:txBody>
      </p:sp>
      <p:sp>
        <p:nvSpPr>
          <p:cNvPr id="5" name="TextBox 4"/>
          <p:cNvSpPr txBox="1"/>
          <p:nvPr/>
        </p:nvSpPr>
        <p:spPr>
          <a:xfrm>
            <a:off x="1042416" y="356616"/>
            <a:ext cx="1005840" cy="219456"/>
          </a:xfrm>
          <a:prstGeom prst="rect">
            <a:avLst/>
          </a:prstGeom>
          <a:noFill/>
        </p:spPr>
        <p:txBody>
          <a:bodyPr wrap="square" lIns="0" rIns="0" tIns="0" bIns="0" anchor="t">
            <a:spAutoFit/>
          </a:bodyPr>
          <a:lstStyle/>
          <a:p>
            <a:pPr algn="l"/>
            <a:r>
              <a:rPr sz="1500" b="1">
                <a:solidFill>
                  <a:srgbClr val="F8FAFC"/>
                </a:solidFill>
                <a:latin typeface="Aptos"/>
              </a:rPr>
              <a:t>replii</a:t>
            </a:r>
          </a:p>
        </p:txBody>
      </p:sp>
      <p:sp>
        <p:nvSpPr>
          <p:cNvPr id="6" name="TextBox 5"/>
          <p:cNvSpPr txBox="1"/>
          <p:nvPr/>
        </p:nvSpPr>
        <p:spPr>
          <a:xfrm>
            <a:off x="658368" y="6345936"/>
            <a:ext cx="2834640" cy="137160"/>
          </a:xfrm>
          <a:prstGeom prst="rect">
            <a:avLst/>
          </a:prstGeom>
          <a:noFill/>
        </p:spPr>
        <p:txBody>
          <a:bodyPr wrap="square" lIns="0" rIns="0" tIns="0" bIns="0" anchor="t">
            <a:spAutoFit/>
          </a:bodyPr>
          <a:lstStyle/>
          <a:p>
            <a:pPr algn="l"/>
            <a:r>
              <a:rPr sz="750" b="0">
                <a:solidFill>
                  <a:srgbClr val="A4B1C3"/>
                </a:solidFill>
                <a:latin typeface="Aptos"/>
              </a:rPr>
              <a:t>Confidential | Replii investor discussion</a:t>
            </a:r>
          </a:p>
        </p:txBody>
      </p:sp>
      <p:sp>
        <p:nvSpPr>
          <p:cNvPr id="7" name="TextBox 6"/>
          <p:cNvSpPr txBox="1"/>
          <p:nvPr/>
        </p:nvSpPr>
        <p:spPr>
          <a:xfrm>
            <a:off x="11155680" y="6345936"/>
            <a:ext cx="320040" cy="146304"/>
          </a:xfrm>
          <a:prstGeom prst="rect">
            <a:avLst/>
          </a:prstGeom>
          <a:noFill/>
        </p:spPr>
        <p:txBody>
          <a:bodyPr wrap="square" lIns="0" rIns="0" tIns="0" bIns="0" anchor="t">
            <a:spAutoFit/>
          </a:bodyPr>
          <a:lstStyle/>
          <a:p>
            <a:pPr algn="r"/>
            <a:r>
              <a:rPr sz="750" b="0">
                <a:solidFill>
                  <a:srgbClr val="A4B1C3"/>
                </a:solidFill>
                <a:latin typeface="Aptos"/>
              </a:rPr>
              <a:t>11</a:t>
            </a:r>
          </a:p>
        </p:txBody>
      </p:sp>
      <p:sp>
        <p:nvSpPr>
          <p:cNvPr id="8" name="TextBox 7"/>
          <p:cNvSpPr txBox="1"/>
          <p:nvPr/>
        </p:nvSpPr>
        <p:spPr>
          <a:xfrm>
            <a:off x="658368" y="868680"/>
            <a:ext cx="3657600" cy="274320"/>
          </a:xfrm>
          <a:prstGeom prst="rect">
            <a:avLst/>
          </a:prstGeom>
          <a:noFill/>
        </p:spPr>
        <p:txBody>
          <a:bodyPr wrap="square" lIns="0" rIns="0" tIns="0" bIns="0" anchor="t">
            <a:spAutoFit/>
          </a:bodyPr>
          <a:lstStyle/>
          <a:p>
            <a:pPr algn="l"/>
            <a:r>
              <a:rPr sz="1500" b="1">
                <a:solidFill>
                  <a:srgbClr val="F8FAFC"/>
                </a:solidFill>
                <a:latin typeface="Aptos"/>
              </a:rPr>
              <a:t>Roadmap</a:t>
            </a:r>
          </a:p>
        </p:txBody>
      </p:sp>
      <p:sp>
        <p:nvSpPr>
          <p:cNvPr id="9" name="TextBox 8"/>
          <p:cNvSpPr txBox="1"/>
          <p:nvPr/>
        </p:nvSpPr>
        <p:spPr>
          <a:xfrm>
            <a:off x="658368" y="1234440"/>
            <a:ext cx="7772400" cy="914400"/>
          </a:xfrm>
          <a:prstGeom prst="rect">
            <a:avLst/>
          </a:prstGeom>
          <a:noFill/>
        </p:spPr>
        <p:txBody>
          <a:bodyPr wrap="square" lIns="0" rIns="0" tIns="0" bIns="0" anchor="t">
            <a:spAutoFit/>
          </a:bodyPr>
          <a:lstStyle/>
          <a:p>
            <a:pPr algn="l"/>
            <a:r>
              <a:rPr sz="3200" b="1">
                <a:solidFill>
                  <a:srgbClr val="F8FAFC"/>
                </a:solidFill>
                <a:latin typeface="Aptos"/>
              </a:rPr>
              <a:t>From wedge to category leader</a:t>
            </a:r>
          </a:p>
        </p:txBody>
      </p:sp>
      <p:sp>
        <p:nvSpPr>
          <p:cNvPr id="10" name="Rounded Rectangle 9"/>
          <p:cNvSpPr/>
          <p:nvPr/>
        </p:nvSpPr>
        <p:spPr>
          <a:xfrm>
            <a:off x="658368" y="2500884"/>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2500884"/>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2" name="TextBox 11"/>
          <p:cNvSpPr txBox="1"/>
          <p:nvPr/>
        </p:nvSpPr>
        <p:spPr>
          <a:xfrm>
            <a:off x="896112" y="2482596"/>
            <a:ext cx="-54864" cy="329184"/>
          </a:xfrm>
          <a:prstGeom prst="rect">
            <a:avLst/>
          </a:prstGeom>
          <a:noFill/>
        </p:spPr>
        <p:txBody>
          <a:bodyPr wrap="square" lIns="0" rIns="0" tIns="0" bIns="0" anchor="t">
            <a:spAutoFit/>
          </a:bodyPr>
          <a:lstStyle/>
          <a:p>
            <a:pPr algn="l"/>
            <a:r>
              <a:rPr sz="1000" b="0">
                <a:solidFill>
                  <a:srgbClr val="CBD5E1"/>
                </a:solidFill>
                <a:latin typeface="Aptos"/>
              </a:rPr>
              <a:t/>
            </a:r>
          </a:p>
        </p:txBody>
      </p:sp>
      <p:sp>
        <p:nvSpPr>
          <p:cNvPr id="13" name="TextBox 12"/>
          <p:cNvSpPr txBox="1"/>
          <p:nvPr/>
        </p:nvSpPr>
        <p:spPr>
          <a:xfrm>
            <a:off x="987552" y="2468880"/>
            <a:ext cx="1143000" cy="201168"/>
          </a:xfrm>
          <a:prstGeom prst="rect">
            <a:avLst/>
          </a:prstGeom>
          <a:noFill/>
        </p:spPr>
        <p:txBody>
          <a:bodyPr wrap="square" lIns="0" rIns="0" tIns="0" bIns="0" anchor="t">
            <a:spAutoFit/>
          </a:bodyPr>
          <a:lstStyle/>
          <a:p>
            <a:pPr algn="l"/>
            <a:r>
              <a:rPr sz="1050" b="1">
                <a:solidFill>
                  <a:srgbClr val="65FFAF"/>
                </a:solidFill>
                <a:latin typeface="Aptos"/>
              </a:rPr>
              <a:t>Year 1</a:t>
            </a:r>
          </a:p>
        </p:txBody>
      </p:sp>
      <p:sp>
        <p:nvSpPr>
          <p:cNvPr id="14" name="TextBox 13"/>
          <p:cNvSpPr txBox="1"/>
          <p:nvPr/>
        </p:nvSpPr>
        <p:spPr>
          <a:xfrm>
            <a:off x="2286000" y="2468880"/>
            <a:ext cx="5212080" cy="201168"/>
          </a:xfrm>
          <a:prstGeom prst="rect">
            <a:avLst/>
          </a:prstGeom>
          <a:noFill/>
        </p:spPr>
        <p:txBody>
          <a:bodyPr wrap="square" lIns="0" rIns="0" tIns="0" bIns="0" anchor="t">
            <a:spAutoFit/>
          </a:bodyPr>
          <a:lstStyle/>
          <a:p>
            <a:pPr algn="l"/>
            <a:r>
              <a:rPr sz="1100" b="1">
                <a:solidFill>
                  <a:srgbClr val="F8FAFC"/>
                </a:solidFill>
                <a:latin typeface="Aptos"/>
              </a:rPr>
              <a:t>10-20 VP Sales / CRO customers</a:t>
            </a:r>
          </a:p>
        </p:txBody>
      </p:sp>
      <p:sp>
        <p:nvSpPr>
          <p:cNvPr id="15" name="TextBox 14"/>
          <p:cNvSpPr txBox="1"/>
          <p:nvPr/>
        </p:nvSpPr>
        <p:spPr>
          <a:xfrm>
            <a:off x="8412480" y="2468880"/>
            <a:ext cx="1920240" cy="201168"/>
          </a:xfrm>
          <a:prstGeom prst="rect">
            <a:avLst/>
          </a:prstGeom>
          <a:noFill/>
        </p:spPr>
        <p:txBody>
          <a:bodyPr wrap="square" lIns="0" rIns="0" tIns="0" bIns="0" anchor="t">
            <a:spAutoFit/>
          </a:bodyPr>
          <a:lstStyle/>
          <a:p>
            <a:pPr algn="r"/>
            <a:r>
              <a:rPr sz="1100" b="0">
                <a:solidFill>
                  <a:srgbClr val="CBD5E1"/>
                </a:solidFill>
                <a:latin typeface="Aptos"/>
              </a:rPr>
              <a:t>GBP 500k ARR</a:t>
            </a:r>
          </a:p>
        </p:txBody>
      </p:sp>
      <p:sp>
        <p:nvSpPr>
          <p:cNvPr id="16" name="Rounded Rectangle 15"/>
          <p:cNvSpPr/>
          <p:nvPr/>
        </p:nvSpPr>
        <p:spPr>
          <a:xfrm>
            <a:off x="658368" y="3287268"/>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3287268"/>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8" name="TextBox 17"/>
          <p:cNvSpPr txBox="1"/>
          <p:nvPr/>
        </p:nvSpPr>
        <p:spPr>
          <a:xfrm>
            <a:off x="896112" y="3268980"/>
            <a:ext cx="-54864" cy="329184"/>
          </a:xfrm>
          <a:prstGeom prst="rect">
            <a:avLst/>
          </a:prstGeom>
          <a:noFill/>
        </p:spPr>
        <p:txBody>
          <a:bodyPr wrap="square" lIns="0" rIns="0" tIns="0" bIns="0" anchor="t">
            <a:spAutoFit/>
          </a:bodyPr>
          <a:lstStyle/>
          <a:p>
            <a:pPr algn="l"/>
            <a:r>
              <a:rPr sz="1000" b="0">
                <a:solidFill>
                  <a:srgbClr val="CBD5E1"/>
                </a:solidFill>
                <a:latin typeface="Aptos"/>
              </a:rPr>
              <a:t/>
            </a:r>
          </a:p>
        </p:txBody>
      </p:sp>
      <p:sp>
        <p:nvSpPr>
          <p:cNvPr id="19" name="TextBox 18"/>
          <p:cNvSpPr txBox="1"/>
          <p:nvPr/>
        </p:nvSpPr>
        <p:spPr>
          <a:xfrm>
            <a:off x="987552" y="3255264"/>
            <a:ext cx="1143000" cy="201168"/>
          </a:xfrm>
          <a:prstGeom prst="rect">
            <a:avLst/>
          </a:prstGeom>
          <a:noFill/>
        </p:spPr>
        <p:txBody>
          <a:bodyPr wrap="square" lIns="0" rIns="0" tIns="0" bIns="0" anchor="t">
            <a:spAutoFit/>
          </a:bodyPr>
          <a:lstStyle/>
          <a:p>
            <a:pPr algn="l"/>
            <a:r>
              <a:rPr sz="1050" b="1">
                <a:solidFill>
                  <a:srgbClr val="65FFAF"/>
                </a:solidFill>
                <a:latin typeface="Aptos"/>
              </a:rPr>
              <a:t>Year 2</a:t>
            </a:r>
          </a:p>
        </p:txBody>
      </p:sp>
      <p:sp>
        <p:nvSpPr>
          <p:cNvPr id="20" name="TextBox 19"/>
          <p:cNvSpPr txBox="1"/>
          <p:nvPr/>
        </p:nvSpPr>
        <p:spPr>
          <a:xfrm>
            <a:off x="2286000" y="3255264"/>
            <a:ext cx="5212080" cy="201168"/>
          </a:xfrm>
          <a:prstGeom prst="rect">
            <a:avLst/>
          </a:prstGeom>
          <a:noFill/>
        </p:spPr>
        <p:txBody>
          <a:bodyPr wrap="square" lIns="0" rIns="0" tIns="0" bIns="0" anchor="t">
            <a:spAutoFit/>
          </a:bodyPr>
          <a:lstStyle/>
          <a:p>
            <a:pPr algn="l"/>
            <a:r>
              <a:rPr sz="1100" b="1">
                <a:solidFill>
                  <a:srgbClr val="F8FAFC"/>
                </a:solidFill>
                <a:latin typeface="Aptos"/>
              </a:rPr>
              <a:t>Regulated contact-centre pilots</a:t>
            </a:r>
          </a:p>
        </p:txBody>
      </p:sp>
      <p:sp>
        <p:nvSpPr>
          <p:cNvPr id="21" name="TextBox 20"/>
          <p:cNvSpPr txBox="1"/>
          <p:nvPr/>
        </p:nvSpPr>
        <p:spPr>
          <a:xfrm>
            <a:off x="8412480" y="3255264"/>
            <a:ext cx="1920240" cy="201168"/>
          </a:xfrm>
          <a:prstGeom prst="rect">
            <a:avLst/>
          </a:prstGeom>
          <a:noFill/>
        </p:spPr>
        <p:txBody>
          <a:bodyPr wrap="square" lIns="0" rIns="0" tIns="0" bIns="0" anchor="t">
            <a:spAutoFit/>
          </a:bodyPr>
          <a:lstStyle/>
          <a:p>
            <a:pPr algn="r"/>
            <a:r>
              <a:rPr sz="1100" b="0">
                <a:solidFill>
                  <a:srgbClr val="CBD5E1"/>
                </a:solidFill>
                <a:latin typeface="Aptos"/>
              </a:rPr>
              <a:t>GBP 3m-5m ARR</a:t>
            </a:r>
          </a:p>
        </p:txBody>
      </p:sp>
      <p:sp>
        <p:nvSpPr>
          <p:cNvPr id="22" name="Rounded Rectangle 21"/>
          <p:cNvSpPr/>
          <p:nvPr/>
        </p:nvSpPr>
        <p:spPr>
          <a:xfrm>
            <a:off x="658368" y="407365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407365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4" name="TextBox 23"/>
          <p:cNvSpPr txBox="1"/>
          <p:nvPr/>
        </p:nvSpPr>
        <p:spPr>
          <a:xfrm>
            <a:off x="896112" y="4055364"/>
            <a:ext cx="-54864" cy="329184"/>
          </a:xfrm>
          <a:prstGeom prst="rect">
            <a:avLst/>
          </a:prstGeom>
          <a:noFill/>
        </p:spPr>
        <p:txBody>
          <a:bodyPr wrap="square" lIns="0" rIns="0" tIns="0" bIns="0" anchor="t">
            <a:spAutoFit/>
          </a:bodyPr>
          <a:lstStyle/>
          <a:p>
            <a:pPr algn="l"/>
            <a:r>
              <a:rPr sz="1000" b="0">
                <a:solidFill>
                  <a:srgbClr val="CBD5E1"/>
                </a:solidFill>
                <a:latin typeface="Aptos"/>
              </a:rPr>
              <a:t/>
            </a:r>
          </a:p>
        </p:txBody>
      </p:sp>
      <p:sp>
        <p:nvSpPr>
          <p:cNvPr id="25" name="TextBox 24"/>
          <p:cNvSpPr txBox="1"/>
          <p:nvPr/>
        </p:nvSpPr>
        <p:spPr>
          <a:xfrm>
            <a:off x="987552" y="4041648"/>
            <a:ext cx="1143000" cy="201168"/>
          </a:xfrm>
          <a:prstGeom prst="rect">
            <a:avLst/>
          </a:prstGeom>
          <a:noFill/>
        </p:spPr>
        <p:txBody>
          <a:bodyPr wrap="square" lIns="0" rIns="0" tIns="0" bIns="0" anchor="t">
            <a:spAutoFit/>
          </a:bodyPr>
          <a:lstStyle/>
          <a:p>
            <a:pPr algn="l"/>
            <a:r>
              <a:rPr sz="1050" b="1">
                <a:solidFill>
                  <a:srgbClr val="65FFAF"/>
                </a:solidFill>
                <a:latin typeface="Aptos"/>
              </a:rPr>
              <a:t>Year 3-4</a:t>
            </a:r>
          </a:p>
        </p:txBody>
      </p:sp>
      <p:sp>
        <p:nvSpPr>
          <p:cNvPr id="26" name="TextBox 25"/>
          <p:cNvSpPr txBox="1"/>
          <p:nvPr/>
        </p:nvSpPr>
        <p:spPr>
          <a:xfrm>
            <a:off x="2286000" y="4041648"/>
            <a:ext cx="5212080" cy="201168"/>
          </a:xfrm>
          <a:prstGeom prst="rect">
            <a:avLst/>
          </a:prstGeom>
          <a:noFill/>
        </p:spPr>
        <p:txBody>
          <a:bodyPr wrap="square" lIns="0" rIns="0" tIns="0" bIns="0" anchor="t">
            <a:spAutoFit/>
          </a:bodyPr>
          <a:lstStyle/>
          <a:p>
            <a:pPr algn="l"/>
            <a:r>
              <a:rPr sz="1100" b="1">
                <a:solidFill>
                  <a:srgbClr val="F8FAFC"/>
                </a:solidFill>
                <a:latin typeface="Aptos"/>
              </a:rPr>
              <a:t>Compliance and performance layer</a:t>
            </a:r>
          </a:p>
        </p:txBody>
      </p:sp>
      <p:sp>
        <p:nvSpPr>
          <p:cNvPr id="27" name="TextBox 26"/>
          <p:cNvSpPr txBox="1"/>
          <p:nvPr/>
        </p:nvSpPr>
        <p:spPr>
          <a:xfrm>
            <a:off x="8412480" y="4041648"/>
            <a:ext cx="1920240" cy="201168"/>
          </a:xfrm>
          <a:prstGeom prst="rect">
            <a:avLst/>
          </a:prstGeom>
          <a:noFill/>
        </p:spPr>
        <p:txBody>
          <a:bodyPr wrap="square" lIns="0" rIns="0" tIns="0" bIns="0" anchor="t">
            <a:spAutoFit/>
          </a:bodyPr>
          <a:lstStyle/>
          <a:p>
            <a:pPr algn="r"/>
            <a:r>
              <a:rPr sz="1100" b="0">
                <a:solidFill>
                  <a:srgbClr val="CBD5E1"/>
                </a:solidFill>
                <a:latin typeface="Aptos"/>
              </a:rPr>
              <a:t>GBP 20m-50m ARR</a:t>
            </a:r>
          </a:p>
        </p:txBody>
      </p:sp>
      <p:sp>
        <p:nvSpPr>
          <p:cNvPr id="28" name="Rounded Rectangle 27"/>
          <p:cNvSpPr/>
          <p:nvPr/>
        </p:nvSpPr>
        <p:spPr>
          <a:xfrm>
            <a:off x="658368" y="4860036"/>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 y="4860036"/>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0" name="TextBox 29"/>
          <p:cNvSpPr txBox="1"/>
          <p:nvPr/>
        </p:nvSpPr>
        <p:spPr>
          <a:xfrm>
            <a:off x="896112" y="4841748"/>
            <a:ext cx="-54864" cy="329184"/>
          </a:xfrm>
          <a:prstGeom prst="rect">
            <a:avLst/>
          </a:prstGeom>
          <a:noFill/>
        </p:spPr>
        <p:txBody>
          <a:bodyPr wrap="square" lIns="0" rIns="0" tIns="0" bIns="0" anchor="t">
            <a:spAutoFit/>
          </a:bodyPr>
          <a:lstStyle/>
          <a:p>
            <a:pPr algn="l"/>
            <a:r>
              <a:rPr sz="1000" b="0">
                <a:solidFill>
                  <a:srgbClr val="CBD5E1"/>
                </a:solidFill>
                <a:latin typeface="Aptos"/>
              </a:rPr>
              <a:t/>
            </a:r>
          </a:p>
        </p:txBody>
      </p:sp>
      <p:sp>
        <p:nvSpPr>
          <p:cNvPr id="31" name="TextBox 30"/>
          <p:cNvSpPr txBox="1"/>
          <p:nvPr/>
        </p:nvSpPr>
        <p:spPr>
          <a:xfrm>
            <a:off x="987552" y="4828032"/>
            <a:ext cx="1143000" cy="201168"/>
          </a:xfrm>
          <a:prstGeom prst="rect">
            <a:avLst/>
          </a:prstGeom>
          <a:noFill/>
        </p:spPr>
        <p:txBody>
          <a:bodyPr wrap="square" lIns="0" rIns="0" tIns="0" bIns="0" anchor="t">
            <a:spAutoFit/>
          </a:bodyPr>
          <a:lstStyle/>
          <a:p>
            <a:pPr algn="l"/>
            <a:r>
              <a:rPr sz="1050" b="1">
                <a:solidFill>
                  <a:srgbClr val="65FFAF"/>
                </a:solidFill>
                <a:latin typeface="Aptos"/>
              </a:rPr>
              <a:t>Exit path</a:t>
            </a:r>
          </a:p>
        </p:txBody>
      </p:sp>
      <p:sp>
        <p:nvSpPr>
          <p:cNvPr id="32" name="TextBox 31"/>
          <p:cNvSpPr txBox="1"/>
          <p:nvPr/>
        </p:nvSpPr>
        <p:spPr>
          <a:xfrm>
            <a:off x="2286000" y="4828032"/>
            <a:ext cx="5212080" cy="201168"/>
          </a:xfrm>
          <a:prstGeom prst="rect">
            <a:avLst/>
          </a:prstGeom>
          <a:noFill/>
        </p:spPr>
        <p:txBody>
          <a:bodyPr wrap="square" lIns="0" rIns="0" tIns="0" bIns="0" anchor="t">
            <a:spAutoFit/>
          </a:bodyPr>
          <a:lstStyle/>
          <a:p>
            <a:pPr algn="l"/>
            <a:r>
              <a:rPr sz="1100" b="1">
                <a:solidFill>
                  <a:srgbClr val="F8FAFC"/>
                </a:solidFill>
                <a:latin typeface="Aptos"/>
              </a:rPr>
              <a:t>Strategic buyer or independent platform</a:t>
            </a:r>
          </a:p>
        </p:txBody>
      </p:sp>
      <p:sp>
        <p:nvSpPr>
          <p:cNvPr id="33" name="TextBox 32"/>
          <p:cNvSpPr txBox="1"/>
          <p:nvPr/>
        </p:nvSpPr>
        <p:spPr>
          <a:xfrm>
            <a:off x="8412480" y="4828032"/>
            <a:ext cx="1920240" cy="201168"/>
          </a:xfrm>
          <a:prstGeom prst="rect">
            <a:avLst/>
          </a:prstGeom>
          <a:noFill/>
        </p:spPr>
        <p:txBody>
          <a:bodyPr wrap="square" lIns="0" rIns="0" tIns="0" bIns="0" anchor="t">
            <a:spAutoFit/>
          </a:bodyPr>
          <a:lstStyle/>
          <a:p>
            <a:pPr algn="r"/>
            <a:r>
              <a:rPr sz="1100" b="0">
                <a:solidFill>
                  <a:srgbClr val="CBD5E1"/>
                </a:solidFill>
                <a:latin typeface="Aptos"/>
              </a:rPr>
              <a:t>20-30x revenue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plii-bg-main.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58368" y="347472"/>
            <a:ext cx="292608" cy="292608"/>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06908"/>
            <a:ext cx="292608" cy="109728"/>
          </a:xfrm>
          <a:prstGeom prst="rect">
            <a:avLst/>
          </a:prstGeom>
          <a:noFill/>
        </p:spPr>
        <p:txBody>
          <a:bodyPr wrap="square" lIns="0" rIns="0" tIns="0" bIns="0" anchor="t">
            <a:spAutoFit/>
          </a:bodyPr>
          <a:lstStyle/>
          <a:p>
            <a:pPr algn="ctr"/>
            <a:r>
              <a:rPr sz="1000" b="1">
                <a:solidFill>
                  <a:srgbClr val="050B16"/>
                </a:solidFill>
                <a:latin typeface="Aptos"/>
              </a:rPr>
              <a:t>R</a:t>
            </a:r>
          </a:p>
        </p:txBody>
      </p:sp>
      <p:sp>
        <p:nvSpPr>
          <p:cNvPr id="5" name="TextBox 4"/>
          <p:cNvSpPr txBox="1"/>
          <p:nvPr/>
        </p:nvSpPr>
        <p:spPr>
          <a:xfrm>
            <a:off x="1042416" y="356616"/>
            <a:ext cx="1005840" cy="219456"/>
          </a:xfrm>
          <a:prstGeom prst="rect">
            <a:avLst/>
          </a:prstGeom>
          <a:noFill/>
        </p:spPr>
        <p:txBody>
          <a:bodyPr wrap="square" lIns="0" rIns="0" tIns="0" bIns="0" anchor="t">
            <a:spAutoFit/>
          </a:bodyPr>
          <a:lstStyle/>
          <a:p>
            <a:pPr algn="l"/>
            <a:r>
              <a:rPr sz="1500" b="1">
                <a:solidFill>
                  <a:srgbClr val="F8FAFC"/>
                </a:solidFill>
                <a:latin typeface="Aptos"/>
              </a:rPr>
              <a:t>replii</a:t>
            </a:r>
          </a:p>
        </p:txBody>
      </p:sp>
      <p:sp>
        <p:nvSpPr>
          <p:cNvPr id="6" name="TextBox 5"/>
          <p:cNvSpPr txBox="1"/>
          <p:nvPr/>
        </p:nvSpPr>
        <p:spPr>
          <a:xfrm>
            <a:off x="658368" y="6345936"/>
            <a:ext cx="2834640" cy="137160"/>
          </a:xfrm>
          <a:prstGeom prst="rect">
            <a:avLst/>
          </a:prstGeom>
          <a:noFill/>
        </p:spPr>
        <p:txBody>
          <a:bodyPr wrap="square" lIns="0" rIns="0" tIns="0" bIns="0" anchor="t">
            <a:spAutoFit/>
          </a:bodyPr>
          <a:lstStyle/>
          <a:p>
            <a:pPr algn="l"/>
            <a:r>
              <a:rPr sz="750" b="0">
                <a:solidFill>
                  <a:srgbClr val="A4B1C3"/>
                </a:solidFill>
                <a:latin typeface="Aptos"/>
              </a:rPr>
              <a:t>Confidential | Replii investor discussion</a:t>
            </a:r>
          </a:p>
        </p:txBody>
      </p:sp>
      <p:sp>
        <p:nvSpPr>
          <p:cNvPr id="7" name="TextBox 6"/>
          <p:cNvSpPr txBox="1"/>
          <p:nvPr/>
        </p:nvSpPr>
        <p:spPr>
          <a:xfrm>
            <a:off x="11155680" y="6345936"/>
            <a:ext cx="320040" cy="146304"/>
          </a:xfrm>
          <a:prstGeom prst="rect">
            <a:avLst/>
          </a:prstGeom>
          <a:noFill/>
        </p:spPr>
        <p:txBody>
          <a:bodyPr wrap="square" lIns="0" rIns="0" tIns="0" bIns="0" anchor="t">
            <a:spAutoFit/>
          </a:bodyPr>
          <a:lstStyle/>
          <a:p>
            <a:pPr algn="r"/>
            <a:r>
              <a:rPr sz="750" b="0">
                <a:solidFill>
                  <a:srgbClr val="A4B1C3"/>
                </a:solidFill>
                <a:latin typeface="Aptos"/>
              </a:rPr>
              <a:t>12</a:t>
            </a:r>
          </a:p>
        </p:txBody>
      </p:sp>
      <p:sp>
        <p:nvSpPr>
          <p:cNvPr id="8" name="TextBox 7"/>
          <p:cNvSpPr txBox="1"/>
          <p:nvPr/>
        </p:nvSpPr>
        <p:spPr>
          <a:xfrm>
            <a:off x="658368" y="868680"/>
            <a:ext cx="3657600" cy="274320"/>
          </a:xfrm>
          <a:prstGeom prst="rect">
            <a:avLst/>
          </a:prstGeom>
          <a:noFill/>
        </p:spPr>
        <p:txBody>
          <a:bodyPr wrap="square" lIns="0" rIns="0" tIns="0" bIns="0" anchor="t">
            <a:spAutoFit/>
          </a:bodyPr>
          <a:lstStyle/>
          <a:p>
            <a:pPr algn="l"/>
            <a:r>
              <a:rPr sz="1500" b="1">
                <a:solidFill>
                  <a:srgbClr val="F8FAFC"/>
                </a:solidFill>
                <a:latin typeface="Aptos"/>
              </a:rPr>
              <a:t>The ask</a:t>
            </a:r>
          </a:p>
        </p:txBody>
      </p:sp>
      <p:sp>
        <p:nvSpPr>
          <p:cNvPr id="9" name="TextBox 8"/>
          <p:cNvSpPr txBox="1"/>
          <p:nvPr/>
        </p:nvSpPr>
        <p:spPr>
          <a:xfrm>
            <a:off x="658368" y="1234440"/>
            <a:ext cx="8961120" cy="914400"/>
          </a:xfrm>
          <a:prstGeom prst="rect">
            <a:avLst/>
          </a:prstGeom>
          <a:noFill/>
        </p:spPr>
        <p:txBody>
          <a:bodyPr wrap="square" lIns="0" rIns="0" tIns="0" bIns="0" anchor="t">
            <a:spAutoFit/>
          </a:bodyPr>
          <a:lstStyle/>
          <a:p>
            <a:pPr algn="l"/>
            <a:r>
              <a:rPr sz="3100" b="1">
                <a:solidFill>
                  <a:srgbClr val="F8FAFC"/>
                </a:solidFill>
                <a:latin typeface="Aptos"/>
              </a:rPr>
              <a:t>Fund the move from technical breakthrough to market proof</a:t>
            </a:r>
          </a:p>
        </p:txBody>
      </p:sp>
      <p:sp>
        <p:nvSpPr>
          <p:cNvPr id="10" name="TextBox 9"/>
          <p:cNvSpPr txBox="1"/>
          <p:nvPr/>
        </p:nvSpPr>
        <p:spPr>
          <a:xfrm>
            <a:off x="658368" y="1947672"/>
            <a:ext cx="7223760" cy="457200"/>
          </a:xfrm>
          <a:prstGeom prst="rect">
            <a:avLst/>
          </a:prstGeom>
          <a:noFill/>
        </p:spPr>
        <p:txBody>
          <a:bodyPr wrap="square" lIns="0" rIns="0" tIns="0" bIns="0" anchor="t">
            <a:spAutoFit/>
          </a:bodyPr>
          <a:lstStyle/>
          <a:p>
            <a:pPr algn="l"/>
            <a:r>
              <a:rPr sz="1250" b="0">
                <a:solidFill>
                  <a:srgbClr val="CBD5E1"/>
                </a:solidFill>
                <a:latin typeface="Aptos"/>
              </a:rPr>
              <a:t>The next milestone is live customer evidence in markets where real-time intervention matters.</a:t>
            </a:r>
          </a:p>
        </p:txBody>
      </p:sp>
      <p:sp>
        <p:nvSpPr>
          <p:cNvPr id="11" name="TextBox 10"/>
          <p:cNvSpPr txBox="1"/>
          <p:nvPr/>
        </p:nvSpPr>
        <p:spPr>
          <a:xfrm>
            <a:off x="658368" y="2834640"/>
            <a:ext cx="3017520" cy="228600"/>
          </a:xfrm>
          <a:prstGeom prst="rect">
            <a:avLst/>
          </a:prstGeom>
          <a:noFill/>
        </p:spPr>
        <p:txBody>
          <a:bodyPr wrap="square" lIns="0" rIns="0" tIns="0" bIns="0" anchor="t">
            <a:spAutoFit/>
          </a:bodyPr>
          <a:lstStyle/>
          <a:p>
            <a:pPr algn="l"/>
            <a:r>
              <a:rPr sz="1230" b="1">
                <a:solidFill>
                  <a:srgbClr val="F8FAFC"/>
                </a:solidFill>
                <a:latin typeface="Aptos"/>
              </a:rPr>
              <a:t>Pilot velocity</a:t>
            </a:r>
          </a:p>
        </p:txBody>
      </p:sp>
      <p:sp>
        <p:nvSpPr>
          <p:cNvPr id="12" name="Rounded Rectangle 11"/>
          <p:cNvSpPr/>
          <p:nvPr/>
        </p:nvSpPr>
        <p:spPr>
          <a:xfrm>
            <a:off x="658368" y="3287268"/>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3287268"/>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4" name="TextBox 13"/>
          <p:cNvSpPr txBox="1"/>
          <p:nvPr/>
        </p:nvSpPr>
        <p:spPr>
          <a:xfrm>
            <a:off x="896112" y="3268980"/>
            <a:ext cx="3008376" cy="329184"/>
          </a:xfrm>
          <a:prstGeom prst="rect">
            <a:avLst/>
          </a:prstGeom>
          <a:noFill/>
        </p:spPr>
        <p:txBody>
          <a:bodyPr wrap="square" lIns="0" rIns="0" tIns="0" bIns="0" anchor="t">
            <a:spAutoFit/>
          </a:bodyPr>
          <a:lstStyle/>
          <a:p>
            <a:pPr algn="l"/>
            <a:r>
              <a:rPr sz="860" b="0">
                <a:solidFill>
                  <a:srgbClr val="CBD5E1"/>
                </a:solidFill>
                <a:latin typeface="Aptos"/>
              </a:rPr>
              <a:t>Close 10-20 sales wedge customers.</a:t>
            </a:r>
          </a:p>
        </p:txBody>
      </p:sp>
      <p:sp>
        <p:nvSpPr>
          <p:cNvPr id="15" name="Rounded Rectangle 14"/>
          <p:cNvSpPr/>
          <p:nvPr/>
        </p:nvSpPr>
        <p:spPr>
          <a:xfrm>
            <a:off x="658368" y="3954780"/>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3954780"/>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17" name="TextBox 16"/>
          <p:cNvSpPr txBox="1"/>
          <p:nvPr/>
        </p:nvSpPr>
        <p:spPr>
          <a:xfrm>
            <a:off x="896112" y="3936492"/>
            <a:ext cx="3008376" cy="329184"/>
          </a:xfrm>
          <a:prstGeom prst="rect">
            <a:avLst/>
          </a:prstGeom>
          <a:noFill/>
        </p:spPr>
        <p:txBody>
          <a:bodyPr wrap="square" lIns="0" rIns="0" tIns="0" bIns="0" anchor="t">
            <a:spAutoFit/>
          </a:bodyPr>
          <a:lstStyle/>
          <a:p>
            <a:pPr algn="l"/>
            <a:r>
              <a:rPr sz="860" b="0">
                <a:solidFill>
                  <a:srgbClr val="CBD5E1"/>
                </a:solidFill>
                <a:latin typeface="Aptos"/>
              </a:rPr>
              <a:t>Measure revenue outcomes on real calls.</a:t>
            </a:r>
          </a:p>
        </p:txBody>
      </p:sp>
      <p:sp>
        <p:nvSpPr>
          <p:cNvPr id="18" name="Rounded Rectangle 17"/>
          <p:cNvSpPr/>
          <p:nvPr/>
        </p:nvSpPr>
        <p:spPr>
          <a:xfrm>
            <a:off x="658368" y="462229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462229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0" name="TextBox 19"/>
          <p:cNvSpPr txBox="1"/>
          <p:nvPr/>
        </p:nvSpPr>
        <p:spPr>
          <a:xfrm>
            <a:off x="896112" y="4604004"/>
            <a:ext cx="3008376" cy="329184"/>
          </a:xfrm>
          <a:prstGeom prst="rect">
            <a:avLst/>
          </a:prstGeom>
          <a:noFill/>
        </p:spPr>
        <p:txBody>
          <a:bodyPr wrap="square" lIns="0" rIns="0" tIns="0" bIns="0" anchor="t">
            <a:spAutoFit/>
          </a:bodyPr>
          <a:lstStyle/>
          <a:p>
            <a:pPr algn="l"/>
            <a:r>
              <a:rPr sz="860" b="0">
                <a:solidFill>
                  <a:srgbClr val="CBD5E1"/>
                </a:solidFill>
                <a:latin typeface="Aptos"/>
              </a:rPr>
              <a:t>Build proof that customers would be devastated without Replii.</a:t>
            </a:r>
          </a:p>
        </p:txBody>
      </p:sp>
      <p:sp>
        <p:nvSpPr>
          <p:cNvPr id="21" name="Rectangle 20"/>
          <p:cNvSpPr/>
          <p:nvPr/>
        </p:nvSpPr>
        <p:spPr>
          <a:xfrm>
            <a:off x="4059936" y="2761488"/>
            <a:ext cx="10972" cy="2651760"/>
          </a:xfrm>
          <a:prstGeom prst="rect">
            <a:avLst/>
          </a:prstGeom>
          <a:solidFill>
            <a:srgbClr val="5F6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7408" y="2834640"/>
            <a:ext cx="3017520" cy="228600"/>
          </a:xfrm>
          <a:prstGeom prst="rect">
            <a:avLst/>
          </a:prstGeom>
          <a:noFill/>
        </p:spPr>
        <p:txBody>
          <a:bodyPr wrap="square" lIns="0" rIns="0" tIns="0" bIns="0" anchor="t">
            <a:spAutoFit/>
          </a:bodyPr>
          <a:lstStyle/>
          <a:p>
            <a:pPr algn="l"/>
            <a:r>
              <a:rPr sz="1230" b="1">
                <a:solidFill>
                  <a:srgbClr val="F8FAFC"/>
                </a:solidFill>
                <a:latin typeface="Aptos"/>
              </a:rPr>
              <a:t>Enterprise readiness</a:t>
            </a:r>
          </a:p>
        </p:txBody>
      </p:sp>
      <p:sp>
        <p:nvSpPr>
          <p:cNvPr id="23" name="Rounded Rectangle 22"/>
          <p:cNvSpPr/>
          <p:nvPr/>
        </p:nvSpPr>
        <p:spPr>
          <a:xfrm>
            <a:off x="4407408" y="3287268"/>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25696" y="3287268"/>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5" name="TextBox 24"/>
          <p:cNvSpPr txBox="1"/>
          <p:nvPr/>
        </p:nvSpPr>
        <p:spPr>
          <a:xfrm>
            <a:off x="4645152" y="3268980"/>
            <a:ext cx="3008376" cy="329184"/>
          </a:xfrm>
          <a:prstGeom prst="rect">
            <a:avLst/>
          </a:prstGeom>
          <a:noFill/>
        </p:spPr>
        <p:txBody>
          <a:bodyPr wrap="square" lIns="0" rIns="0" tIns="0" bIns="0" anchor="t">
            <a:spAutoFit/>
          </a:bodyPr>
          <a:lstStyle/>
          <a:p>
            <a:pPr algn="l"/>
            <a:r>
              <a:rPr sz="860" b="0">
                <a:solidFill>
                  <a:srgbClr val="CBD5E1"/>
                </a:solidFill>
                <a:latin typeface="Aptos"/>
              </a:rPr>
              <a:t>Security, compliance and procurement readiness.</a:t>
            </a:r>
          </a:p>
        </p:txBody>
      </p:sp>
      <p:sp>
        <p:nvSpPr>
          <p:cNvPr id="26" name="Rounded Rectangle 25"/>
          <p:cNvSpPr/>
          <p:nvPr/>
        </p:nvSpPr>
        <p:spPr>
          <a:xfrm>
            <a:off x="4407408" y="3954780"/>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5696" y="3954780"/>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28" name="TextBox 27"/>
          <p:cNvSpPr txBox="1"/>
          <p:nvPr/>
        </p:nvSpPr>
        <p:spPr>
          <a:xfrm>
            <a:off x="4645152" y="3936492"/>
            <a:ext cx="3008376" cy="329184"/>
          </a:xfrm>
          <a:prstGeom prst="rect">
            <a:avLst/>
          </a:prstGeom>
          <a:noFill/>
        </p:spPr>
        <p:txBody>
          <a:bodyPr wrap="square" lIns="0" rIns="0" tIns="0" bIns="0" anchor="t">
            <a:spAutoFit/>
          </a:bodyPr>
          <a:lstStyle/>
          <a:p>
            <a:pPr algn="l"/>
            <a:r>
              <a:rPr sz="860" b="0">
                <a:solidFill>
                  <a:srgbClr val="CBD5E1"/>
                </a:solidFill>
                <a:latin typeface="Aptos"/>
              </a:rPr>
              <a:t>CRM, call-stack and deployment integrations.</a:t>
            </a:r>
          </a:p>
        </p:txBody>
      </p:sp>
      <p:sp>
        <p:nvSpPr>
          <p:cNvPr id="29" name="Rounded Rectangle 28"/>
          <p:cNvSpPr/>
          <p:nvPr/>
        </p:nvSpPr>
        <p:spPr>
          <a:xfrm>
            <a:off x="4407408" y="462229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25696" y="462229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1" name="TextBox 30"/>
          <p:cNvSpPr txBox="1"/>
          <p:nvPr/>
        </p:nvSpPr>
        <p:spPr>
          <a:xfrm>
            <a:off x="4645152" y="4604004"/>
            <a:ext cx="3008376" cy="329184"/>
          </a:xfrm>
          <a:prstGeom prst="rect">
            <a:avLst/>
          </a:prstGeom>
          <a:noFill/>
        </p:spPr>
        <p:txBody>
          <a:bodyPr wrap="square" lIns="0" rIns="0" tIns="0" bIns="0" anchor="t">
            <a:spAutoFit/>
          </a:bodyPr>
          <a:lstStyle/>
          <a:p>
            <a:pPr algn="l"/>
            <a:r>
              <a:rPr sz="860" b="0">
                <a:solidFill>
                  <a:srgbClr val="CBD5E1"/>
                </a:solidFill>
                <a:latin typeface="Aptos"/>
              </a:rPr>
              <a:t>Certifications that unlock regulated buyers.</a:t>
            </a:r>
          </a:p>
        </p:txBody>
      </p:sp>
      <p:sp>
        <p:nvSpPr>
          <p:cNvPr id="32" name="Rectangle 31"/>
          <p:cNvSpPr/>
          <p:nvPr/>
        </p:nvSpPr>
        <p:spPr>
          <a:xfrm>
            <a:off x="7808976" y="2761488"/>
            <a:ext cx="10972" cy="2651760"/>
          </a:xfrm>
          <a:prstGeom prst="rect">
            <a:avLst/>
          </a:prstGeom>
          <a:solidFill>
            <a:srgbClr val="5F6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56448" y="2834640"/>
            <a:ext cx="3017520" cy="228600"/>
          </a:xfrm>
          <a:prstGeom prst="rect">
            <a:avLst/>
          </a:prstGeom>
          <a:noFill/>
        </p:spPr>
        <p:txBody>
          <a:bodyPr wrap="square" lIns="0" rIns="0" tIns="0" bIns="0" anchor="t">
            <a:spAutoFit/>
          </a:bodyPr>
          <a:lstStyle/>
          <a:p>
            <a:pPr algn="l"/>
            <a:r>
              <a:rPr sz="1230" b="1">
                <a:solidFill>
                  <a:srgbClr val="F8FAFC"/>
                </a:solidFill>
                <a:latin typeface="Aptos"/>
              </a:rPr>
              <a:t>Contact-centre wedge</a:t>
            </a:r>
          </a:p>
        </p:txBody>
      </p:sp>
      <p:sp>
        <p:nvSpPr>
          <p:cNvPr id="34" name="Rounded Rectangle 33"/>
          <p:cNvSpPr/>
          <p:nvPr/>
        </p:nvSpPr>
        <p:spPr>
          <a:xfrm>
            <a:off x="8156448" y="3287268"/>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74736" y="3287268"/>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6" name="TextBox 35"/>
          <p:cNvSpPr txBox="1"/>
          <p:nvPr/>
        </p:nvSpPr>
        <p:spPr>
          <a:xfrm>
            <a:off x="8394192" y="3268980"/>
            <a:ext cx="3008376" cy="329184"/>
          </a:xfrm>
          <a:prstGeom prst="rect">
            <a:avLst/>
          </a:prstGeom>
          <a:noFill/>
        </p:spPr>
        <p:txBody>
          <a:bodyPr wrap="square" lIns="0" rIns="0" tIns="0" bIns="0" anchor="t">
            <a:spAutoFit/>
          </a:bodyPr>
          <a:lstStyle/>
          <a:p>
            <a:pPr algn="l"/>
            <a:r>
              <a:rPr sz="860" b="0">
                <a:solidFill>
                  <a:srgbClr val="CBD5E1"/>
                </a:solidFill>
                <a:latin typeface="Aptos"/>
              </a:rPr>
              <a:t>Start 2-3 regulated pilots.</a:t>
            </a:r>
          </a:p>
        </p:txBody>
      </p:sp>
      <p:sp>
        <p:nvSpPr>
          <p:cNvPr id="37" name="Rounded Rectangle 36"/>
          <p:cNvSpPr/>
          <p:nvPr/>
        </p:nvSpPr>
        <p:spPr>
          <a:xfrm>
            <a:off x="8156448" y="3954780"/>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74736" y="3954780"/>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39" name="TextBox 38"/>
          <p:cNvSpPr txBox="1"/>
          <p:nvPr/>
        </p:nvSpPr>
        <p:spPr>
          <a:xfrm>
            <a:off x="8394192" y="3936492"/>
            <a:ext cx="3008376" cy="329184"/>
          </a:xfrm>
          <a:prstGeom prst="rect">
            <a:avLst/>
          </a:prstGeom>
          <a:noFill/>
        </p:spPr>
        <p:txBody>
          <a:bodyPr wrap="square" lIns="0" rIns="0" tIns="0" bIns="0" anchor="t">
            <a:spAutoFit/>
          </a:bodyPr>
          <a:lstStyle/>
          <a:p>
            <a:pPr algn="l"/>
            <a:r>
              <a:rPr sz="860" b="0">
                <a:solidFill>
                  <a:srgbClr val="CBD5E1"/>
                </a:solidFill>
                <a:latin typeface="Aptos"/>
              </a:rPr>
              <a:t>Prove live compliance intervention ROI.</a:t>
            </a:r>
          </a:p>
        </p:txBody>
      </p:sp>
      <p:sp>
        <p:nvSpPr>
          <p:cNvPr id="40" name="Rounded Rectangle 39"/>
          <p:cNvSpPr/>
          <p:nvPr/>
        </p:nvSpPr>
        <p:spPr>
          <a:xfrm>
            <a:off x="8156448" y="4622292"/>
            <a:ext cx="128016" cy="128016"/>
          </a:xfrm>
          <a:prstGeom prst="roundRect">
            <a:avLst/>
          </a:prstGeom>
          <a:solidFill>
            <a:srgbClr val="65FF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74736" y="4622292"/>
            <a:ext cx="91440" cy="91440"/>
          </a:xfrm>
          <a:prstGeom prst="rect">
            <a:avLst/>
          </a:prstGeom>
          <a:noFill/>
        </p:spPr>
        <p:txBody>
          <a:bodyPr wrap="square" lIns="0" rIns="0" tIns="0" bIns="0" anchor="t">
            <a:spAutoFit/>
          </a:bodyPr>
          <a:lstStyle/>
          <a:p>
            <a:pPr algn="ctr"/>
            <a:r>
              <a:rPr sz="720" b="1">
                <a:solidFill>
                  <a:srgbClr val="020812"/>
                </a:solidFill>
                <a:latin typeface="Aptos"/>
              </a:rPr>
              <a:t>✓</a:t>
            </a:r>
          </a:p>
        </p:txBody>
      </p:sp>
      <p:sp>
        <p:nvSpPr>
          <p:cNvPr id="42" name="TextBox 41"/>
          <p:cNvSpPr txBox="1"/>
          <p:nvPr/>
        </p:nvSpPr>
        <p:spPr>
          <a:xfrm>
            <a:off x="8394192" y="4604004"/>
            <a:ext cx="3008376" cy="329184"/>
          </a:xfrm>
          <a:prstGeom prst="rect">
            <a:avLst/>
          </a:prstGeom>
          <a:noFill/>
        </p:spPr>
        <p:txBody>
          <a:bodyPr wrap="square" lIns="0" rIns="0" tIns="0" bIns="0" anchor="t">
            <a:spAutoFit/>
          </a:bodyPr>
          <a:lstStyle/>
          <a:p>
            <a:pPr algn="l"/>
            <a:r>
              <a:rPr sz="860" b="0">
                <a:solidFill>
                  <a:srgbClr val="CBD5E1"/>
                </a:solidFill>
                <a:latin typeface="Aptos"/>
              </a:rPr>
              <a:t>Move from revenue enablement to critical infrastructure.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Replii Investor Pitch - Dark Clean</dc:title>
  <dc:subject>Sub-100ms live conversation AI platform</dc:subject>
  <dc:creator>Replii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